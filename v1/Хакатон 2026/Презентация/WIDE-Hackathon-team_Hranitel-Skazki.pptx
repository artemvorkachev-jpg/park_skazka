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Суббота, 24 октября</c:v>
                </c:pt>
              </c:strCache>
            </c:strRef>
          </c:tx>
          <c:spPr>
            <a:solidFill>
              <a:srgbClr val="F39200"/>
            </a:solidFill>
            <a:ln w="50800" cap="flat">
              <a:solidFill>
                <a:srgbClr val="F392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39200"/>
              </a:solidFill>
              <a:ln w="9525" cap="flat">
                <a:solidFill>
                  <a:srgbClr val="F392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</c:v>
                </c:pt>
                <c:pt idx="1">
                  <c:v>49</c:v>
                </c:pt>
                <c:pt idx="2">
                  <c:v>69</c:v>
                </c:pt>
                <c:pt idx="3">
                  <c:v>87</c:v>
                </c:pt>
                <c:pt idx="4">
                  <c:v>99</c:v>
                </c:pt>
                <c:pt idx="5">
                  <c:v>100</c:v>
                </c:pt>
                <c:pt idx="6">
                  <c:v>92</c:v>
                </c:pt>
                <c:pt idx="7">
                  <c:v>74</c:v>
                </c:pt>
                <c:pt idx="8">
                  <c:v>67</c:v>
                </c:pt>
                <c:pt idx="9">
                  <c:v>58</c:v>
                </c:pt>
                <c:pt idx="10">
                  <c:v>44</c:v>
                </c:pt>
                <c:pt idx="11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Среда, 21 октября</c:v>
                </c:pt>
              </c:strCache>
            </c:strRef>
          </c:tx>
          <c:spPr>
            <a:solidFill>
              <a:srgbClr val="006EB7"/>
            </a:solidFill>
            <a:ln w="50800" cap="flat">
              <a:solidFill>
                <a:srgbClr val="006E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6EB7"/>
              </a:solidFill>
              <a:ln w="9525" cap="flat">
                <a:solidFill>
                  <a:srgbClr val="006E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29</c:v>
                </c:pt>
                <c:pt idx="5">
                  <c:v>33</c:v>
                </c:pt>
                <c:pt idx="6">
                  <c:v>35</c:v>
                </c:pt>
                <c:pt idx="7">
                  <c:v>30</c:v>
                </c:pt>
                <c:pt idx="8">
                  <c:v>25</c:v>
                </c:pt>
                <c:pt idx="9">
                  <c:v>14</c:v>
                </c:pt>
                <c:pt idx="10">
                  <c:v>8</c:v>
                </c:pt>
                <c:pt idx="11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A90"/>
                    </a:solidFill>
                    <a:latin typeface="Arial"/>
                  </a:rPr>
                  <a:t>Час, ч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6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A90"/>
                    </a:solidFill>
                    <a:latin typeface="Arial"/>
                  </a:rPr>
                  <a:t>Загрузка,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A4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— WIDE Hackathon team. Наш девиз: наши идеи сегодня делают будущее завтра. Мы расследовали парк «Сказка» и нашли, как превратить визит в игру.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Сергей, Николай, Артем, Глеб и Кирилл — команда WIDE Hackathon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— с официального сайта парка на 21.10.2026.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Улики собраны из открытых отзывов и разбора официального сайта парка.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Идея: гость не читает сайт, а проходит игру вместе с Котом Баюном.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«слепое пятно» сайта: гость заранее знает, что не работает и почему.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Баллы дают уровни: Путник, Следопыт, Богатырь, Царевич, Хранитель Сказки. Награды — демонстрация механики.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Идея: где больше играют, там больше нравится. Если аттракцион на ремонте — предлагаем починить и видим, что любят больше.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аттракциона рисуется автоматически по выбранным параметрам.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 построен нашей моделью очередей по реальному прогнозу погоды на выбранные даты.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Режим оператора уже есть в прототипе: статусы, спрос на ремонт, идеи.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честно разделяем настоящее и демонстрационное. В боевой версии статусы вводит оператор, голоса хранятся в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Завтра на хакатоне создаём ИИ-агента — голос Кота Баюна.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Вопросы?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WID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WIDE_NOIR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60175" cy="6217920"/>
          </a:xfrm>
          <a:prstGeom prst="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C:/Users/WIDE/AppData/Local/Temp/claude/C--Users-WIDE--claude-spares-spare-Cb9EuE/02f41764-c908-4924-8b0e-1cf8d36ca4c3/scratchpad/deck/img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502920"/>
            <a:ext cx="868680" cy="868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· Hackathon team · Хранитель Сказки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_NOI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IDE/AppData/Local/Temp/claude/C--Users-WIDE--claude-spares-spare-Cb9EuE/02f41764-c908-4924-8b0e-1cf8d36ca4c3/scratchpad/deck/img/emble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5029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9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 2026-WIDE  ·  ГРИФ: ОТКРЫТО</a:t>
            </a:r>
            <a:endParaRPr lang="en-US" sz="1400" dirty="0"/>
          </a:p>
        </p:txBody>
      </p:sp>
      <p:sp>
        <p:nvSpPr>
          <p:cNvPr id="3" name="Название проекта"/>
          <p:cNvSpPr txBox="1"/>
          <p:nvPr/>
        </p:nvSpPr>
        <p:spPr>
          <a:xfrm>
            <a:off x="731520" y="1325880"/>
            <a:ext cx="6766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ХРАНИТЕЛЬ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СКАЗКИ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Расследование: почему в парке аттракционов люди стоят в очередях — и как превратить визит в игру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Hackathon team</a:t>
            </a:r>
            <a:endParaRPr lang="en-US" sz="2800" dirty="0"/>
          </a:p>
        </p:txBody>
      </p:sp>
      <p:sp>
        <p:nvSpPr>
          <p:cNvPr id="6" name="Девиз"/>
          <p:cNvSpPr txBox="1"/>
          <p:nvPr/>
        </p:nvSpPr>
        <p:spPr>
          <a:xfrm>
            <a:off x="731520" y="5669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идеи сегодня делают будущее завтра</a:t>
            </a:r>
            <a:endParaRPr lang="en-US" sz="2000" dirty="0"/>
          </a:p>
        </p:txBody>
      </p:sp>
      <p:pic>
        <p:nvPicPr>
          <p:cNvPr id="7" name="Image 0" descr="Лупа следовател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97280"/>
            <a:ext cx="1828800" cy="1828800"/>
          </a:xfrm>
          <a:prstGeom prst="rect">
            <a:avLst/>
          </a:prstGeom>
        </p:spPr>
      </p:pic>
      <p:sp>
        <p:nvSpPr>
          <p:cNvPr id="8" name="Штамп"/>
          <p:cNvSpPr txBox="1"/>
          <p:nvPr/>
        </p:nvSpPr>
        <p:spPr>
          <a:xfrm rot="-540000">
            <a:off x="4572000" y="4983480"/>
            <a:ext cx="2743200" cy="594360"/>
          </a:xfrm>
          <a:prstGeom prst="rect">
            <a:avLst/>
          </a:prstGeom>
          <a:noFill/>
          <a:ln w="38100">
            <a:solidFill>
              <a:srgbClr val="FF4A6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РАССЛЕДОВАНИЕ</a:t>
            </a:r>
            <a:endParaRPr lang="en-US" sz="2000" dirty="0"/>
          </a:p>
        </p:txBody>
      </p:sp>
      <p:pic>
        <p:nvPicPr>
          <p:cNvPr id="9" name="Учитель WIDE" descr="Учитель W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971800"/>
            <a:ext cx="1687518" cy="3611880"/>
          </a:xfrm>
          <a:prstGeom prst="rect">
            <a:avLst/>
          </a:prstGeom>
        </p:spPr>
      </p:pic>
      <p:pic>
        <p:nvPicPr>
          <p:cNvPr id="10" name="Мальчик WIDE" descr="Мальчик WI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46120"/>
            <a:ext cx="1640375" cy="3337560"/>
          </a:xfrm>
          <a:prstGeom prst="rect">
            <a:avLst/>
          </a:prstGeom>
        </p:spPr>
      </p:pic>
      <p:pic>
        <p:nvPicPr>
          <p:cNvPr id="11" name="Девочка WIDE" descr="Девочка WI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2743200"/>
            <a:ext cx="120833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ДОСЬЕ  ·  СЛЕДСТВЕННАЯ ГРУППА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WIDE Hackathon team</a:t>
            </a:r>
            <a:endParaRPr lang="en-US" sz="3200" dirty="0"/>
          </a:p>
        </p:txBody>
      </p:sp>
      <p:sp>
        <p:nvSpPr>
          <p:cNvPr id="4" name="Досье Сергей"/>
          <p:cNvSpPr/>
          <p:nvPr/>
        </p:nvSpPr>
        <p:spPr>
          <a:xfrm>
            <a:off x="86868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371600" y="2011680"/>
            <a:ext cx="914400" cy="91440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6" name="Image 0" descr="FaUserSecr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2311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10" name="Досье Николай"/>
          <p:cNvSpPr/>
          <p:nvPr/>
        </p:nvSpPr>
        <p:spPr>
          <a:xfrm>
            <a:off x="297180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3474720" y="2011680"/>
            <a:ext cx="914400" cy="914400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pic>
        <p:nvPicPr>
          <p:cNvPr id="12" name="Image 1" descr="FaUserSecr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23113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2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01752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0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Николай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30175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16" name="Досье Артем"/>
          <p:cNvSpPr/>
          <p:nvPr/>
        </p:nvSpPr>
        <p:spPr>
          <a:xfrm>
            <a:off x="507492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5577840" y="2011680"/>
            <a:ext cx="914400" cy="91440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8" name="Image 2" descr="FaUserSecr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23113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663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12064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Артем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51206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22" name="Досье Глеб"/>
          <p:cNvSpPr/>
          <p:nvPr/>
        </p:nvSpPr>
        <p:spPr>
          <a:xfrm>
            <a:off x="717804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3" name="Круг иконки"/>
          <p:cNvSpPr/>
          <p:nvPr/>
        </p:nvSpPr>
        <p:spPr>
          <a:xfrm>
            <a:off x="7680960" y="2011680"/>
            <a:ext cx="914400" cy="91440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24" name="Image 3" descr="FaUserSecr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223113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694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22376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6B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Глеб</a:t>
            </a:r>
            <a:endParaRPr lang="en-US" sz="2800" dirty="0"/>
          </a:p>
        </p:txBody>
      </p:sp>
      <p:sp>
        <p:nvSpPr>
          <p:cNvPr id="27" name="Text 21"/>
          <p:cNvSpPr txBox="1"/>
          <p:nvPr/>
        </p:nvSpPr>
        <p:spPr>
          <a:xfrm>
            <a:off x="72237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28" name="Досье Кирилл"/>
          <p:cNvSpPr/>
          <p:nvPr/>
        </p:nvSpPr>
        <p:spPr>
          <a:xfrm>
            <a:off x="928116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9" name="Круг иконки"/>
          <p:cNvSpPr/>
          <p:nvPr/>
        </p:nvSpPr>
        <p:spPr>
          <a:xfrm>
            <a:off x="9784080" y="2011680"/>
            <a:ext cx="914400" cy="914400"/>
          </a:xfrm>
          <a:prstGeom prst="ellipse">
            <a:avLst/>
          </a:prstGeom>
          <a:solidFill>
            <a:srgbClr val="7B4FC4"/>
          </a:solidFill>
          <a:ln w="12700">
            <a:solidFill>
              <a:srgbClr val="7B4FC4"/>
            </a:solidFill>
            <a:prstDash val="solid"/>
          </a:ln>
        </p:spPr>
      </p:sp>
      <p:pic>
        <p:nvPicPr>
          <p:cNvPr id="30" name="Image 4" descr="FaUserSecr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2231136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726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№05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32688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Кирилл</a:t>
            </a:r>
            <a:endParaRPr lang="en-US" sz="2800" dirty="0"/>
          </a:p>
        </p:txBody>
      </p:sp>
      <p:sp>
        <p:nvSpPr>
          <p:cNvPr id="33" name="Text 26"/>
          <p:cNvSpPr txBox="1"/>
          <p:nvPr/>
        </p:nvSpPr>
        <p:spPr>
          <a:xfrm>
            <a:off x="93268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«Наши идеи сегодня делают будущее завтра»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№1  ·  ЗАЯВЛЕНИЕ КЛИЕНТА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парк «Сказка», Крылатское</a:t>
            </a:r>
            <a:endParaRPr lang="en-US" sz="3200" dirty="0"/>
          </a:p>
        </p:txBody>
      </p:sp>
      <p:sp>
        <p:nvSpPr>
          <p:cNvPr id="4" name="Цифра 1"/>
          <p:cNvSpPr/>
          <p:nvPr/>
        </p:nvSpPr>
        <p:spPr>
          <a:xfrm>
            <a:off x="868680" y="1691640"/>
            <a:ext cx="2743200" cy="2880360"/>
          </a:xfrm>
          <a:prstGeom prst="roundRect">
            <a:avLst>
              <a:gd name="adj" fmla="val 50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143000" y="1920240"/>
            <a:ext cx="640080" cy="64008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6" name="Image 0" descr="FaMapMarke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61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позиций на сайте: аттракционы, лабиринты и тематические зоны</a:t>
            </a:r>
            <a:endParaRPr lang="en-US" sz="1400" dirty="0"/>
          </a:p>
        </p:txBody>
      </p:sp>
      <p:sp>
        <p:nvSpPr>
          <p:cNvPr id="9" name="Цифра 2"/>
          <p:cNvSpPr/>
          <p:nvPr/>
        </p:nvSpPr>
        <p:spPr>
          <a:xfrm>
            <a:off x="3794760" y="1691640"/>
            <a:ext cx="2743200" cy="2880360"/>
          </a:xfrm>
          <a:prstGeom prst="roundRect">
            <a:avLst>
              <a:gd name="adj" fmla="val 50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4069080" y="1920240"/>
            <a:ext cx="640080" cy="64008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11" name="Image 1" descr="FaPa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699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6B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тематических зон: динозавры, хаски, альпаки, страусы, птицы, еноты</a:t>
            </a:r>
            <a:endParaRPr lang="en-US" sz="1400" dirty="0"/>
          </a:p>
        </p:txBody>
      </p:sp>
      <p:sp>
        <p:nvSpPr>
          <p:cNvPr id="14" name="Цифра 3"/>
          <p:cNvSpPr/>
          <p:nvPr/>
        </p:nvSpPr>
        <p:spPr>
          <a:xfrm>
            <a:off x="6720840" y="1691640"/>
            <a:ext cx="2743200" cy="2880360"/>
          </a:xfrm>
          <a:prstGeom prst="roundRect">
            <a:avLst>
              <a:gd name="adj" fmla="val 50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5" name="Круг иконки"/>
          <p:cNvSpPr/>
          <p:nvPr/>
        </p:nvSpPr>
        <p:spPr>
          <a:xfrm>
            <a:off x="6995160" y="1920240"/>
            <a:ext cx="640080" cy="64008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6" name="Image 2" descr="FaCo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779" y="2073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2 700 ₽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699516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 на день при покупке онлайн (2 900 ₽ на кассе)</a:t>
            </a:r>
            <a:endParaRPr lang="en-US" sz="1400" dirty="0"/>
          </a:p>
        </p:txBody>
      </p:sp>
      <p:pic>
        <p:nvPicPr>
          <p:cNvPr id="19" name="Мальчик WIDE показывает вверх" descr="Мальчик WIDE показывает ввер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103120"/>
            <a:ext cx="1215444" cy="2606040"/>
          </a:xfrm>
          <a:prstGeom prst="rect">
            <a:avLst/>
          </a:prstGeom>
        </p:spPr>
      </p:pic>
      <p:sp>
        <p:nvSpPr>
          <p:cNvPr id="20" name="Плашка"/>
          <p:cNvSpPr/>
          <p:nvPr/>
        </p:nvSpPr>
        <p:spPr>
          <a:xfrm>
            <a:off x="868680" y="4846320"/>
            <a:ext cx="10424160" cy="1005840"/>
          </a:xfrm>
          <a:prstGeom prst="roundRect">
            <a:avLst>
              <a:gd name="adj" fmla="val 13636"/>
            </a:avLst>
          </a:prstGeom>
          <a:solidFill>
            <a:srgbClr val="EEF5FC"/>
          </a:solidFill>
          <a:ln w="19050">
            <a:solidFill>
              <a:srgbClr val="006EB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97280" y="484632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расследования: </a:t>
            </a:r>
            <a:pPr indent="0" marL="0"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визит выгоднее и интереснее, убрать «слепые зоны» для гостей и дать парку данные о том, что людям действительно нравится.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ВЕЩДОКИ  ·  ЧТО НАШЛО СЛЕДСТВИЕ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улики с места событий</a:t>
            </a:r>
            <a:endParaRPr lang="en-US" sz="3200" dirty="0"/>
          </a:p>
        </p:txBody>
      </p:sp>
      <p:sp>
        <p:nvSpPr>
          <p:cNvPr id="4" name="Улика 1"/>
          <p:cNvSpPr/>
          <p:nvPr/>
        </p:nvSpPr>
        <p:spPr>
          <a:xfrm>
            <a:off x="868680" y="1691640"/>
            <a:ext cx="4389120" cy="1828800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097280" y="1965960"/>
            <a:ext cx="731520" cy="731520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pic>
        <p:nvPicPr>
          <p:cNvPr id="6" name="Image 0" descr="FaMoneyBillW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845" y="21415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Билет, еда и платная парковка — главные минусы в отзывах гостей.</a:t>
            </a:r>
            <a:endParaRPr lang="en-US" sz="1400" dirty="0"/>
          </a:p>
        </p:txBody>
      </p:sp>
      <p:sp>
        <p:nvSpPr>
          <p:cNvPr id="10" name="Улика 2"/>
          <p:cNvSpPr/>
          <p:nvPr/>
        </p:nvSpPr>
        <p:spPr>
          <a:xfrm>
            <a:off x="5440680" y="1691640"/>
            <a:ext cx="4389120" cy="1828800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5669280" y="1965960"/>
            <a:ext cx="731520" cy="73152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2" name="Image 1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45" y="21415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368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метро «Крылатское» около 35 минут пешком: про бесплатный автобус надо знать заранее.</a:t>
            </a:r>
            <a:endParaRPr lang="en-US" sz="1400" dirty="0"/>
          </a:p>
        </p:txBody>
      </p:sp>
      <p:sp>
        <p:nvSpPr>
          <p:cNvPr id="16" name="Улика 3"/>
          <p:cNvSpPr/>
          <p:nvPr/>
        </p:nvSpPr>
        <p:spPr>
          <a:xfrm>
            <a:off x="868680" y="3703320"/>
            <a:ext cx="4389120" cy="1828800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1097280" y="3977640"/>
            <a:ext cx="731520" cy="731520"/>
          </a:xfrm>
          <a:prstGeom prst="ellipse">
            <a:avLst/>
          </a:prstGeom>
          <a:solidFill>
            <a:srgbClr val="7B4FC4"/>
          </a:solidFill>
          <a:ln w="12700">
            <a:solidFill>
              <a:srgbClr val="7B4FC4"/>
            </a:solidFill>
            <a:prstDash val="solid"/>
          </a:ln>
        </p:spPr>
      </p:sp>
      <p:pic>
        <p:nvPicPr>
          <p:cNvPr id="18" name="Image 2" descr="FaWal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415320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1168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4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01168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повода вернуться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2011680" y="4617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 пишут, что второй раз вряд ли поедут: «разовое удовольствие».</a:t>
            </a:r>
            <a:endParaRPr lang="en-US" sz="1400" dirty="0"/>
          </a:p>
        </p:txBody>
      </p:sp>
      <p:sp>
        <p:nvSpPr>
          <p:cNvPr id="22" name="Улика 4"/>
          <p:cNvSpPr/>
          <p:nvPr/>
        </p:nvSpPr>
        <p:spPr>
          <a:xfrm>
            <a:off x="5440680" y="3703320"/>
            <a:ext cx="4389120" cy="1828800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3" name="Круг иконки"/>
          <p:cNvSpPr/>
          <p:nvPr/>
        </p:nvSpPr>
        <p:spPr>
          <a:xfrm>
            <a:off x="5669280" y="3977640"/>
            <a:ext cx="731520" cy="73152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24" name="Image 3" descr="Fa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845" y="415320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8368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58368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Тёмные пятна на сайте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583680" y="4617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видно, какой аттракцион не работает и почему; неочевидно, кому что подходит по росту.</a:t>
            </a:r>
            <a:endParaRPr lang="en-US" sz="1400" dirty="0"/>
          </a:p>
        </p:txBody>
      </p:sp>
      <p:pic>
        <p:nvPicPr>
          <p:cNvPr id="28" name="Мальчик WIDE думает" descr="Мальчик WIDE думает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194560"/>
            <a:ext cx="1617904" cy="32918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686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отзывы на Otzovik, обзоры KudaGo и Т—Ж, разбор сайта parkskazka.com.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ВЕРСИЯ СЛЕДСТВИЯ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Превратить визит в игру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Главный экран: погода по часам, Кот Баюн" descr="Главный экран: погода по часам, Кот Баю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Бейдж 1"/>
          <p:cNvSpPr/>
          <p:nvPr/>
        </p:nvSpPr>
        <p:spPr>
          <a:xfrm>
            <a:off x="3611880" y="1691640"/>
            <a:ext cx="566928" cy="566928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идти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прогноз погоды по часам и оценка загрузки: в тихие часы монет больше.</a:t>
            </a:r>
            <a:endParaRPr lang="en-US" sz="2000" dirty="0"/>
          </a:p>
        </p:txBody>
      </p:sp>
      <p:sp>
        <p:nvSpPr>
          <p:cNvPr id="9" name="Бейдж 2"/>
          <p:cNvSpPr/>
          <p:nvPr/>
        </p:nvSpPr>
        <p:spPr>
          <a:xfrm>
            <a:off x="3611880" y="2770632"/>
            <a:ext cx="566928" cy="566928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11880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267919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Баюн — проводник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Подсказывает, где тише и что работает. Завтра станет ИИ-агентом.</a:t>
            </a:r>
            <a:endParaRPr lang="en-US" sz="2000" dirty="0"/>
          </a:p>
        </p:txBody>
      </p:sp>
      <p:sp>
        <p:nvSpPr>
          <p:cNvPr id="12" name="Бейдж 3"/>
          <p:cNvSpPr/>
          <p:nvPr/>
        </p:nvSpPr>
        <p:spPr>
          <a:xfrm>
            <a:off x="3611880" y="3849624"/>
            <a:ext cx="566928" cy="566928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375818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со статусами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работает, что на ремонте — и почему.</a:t>
            </a:r>
            <a:endParaRPr lang="en-US" sz="2000" dirty="0"/>
          </a:p>
        </p:txBody>
      </p:sp>
      <p:sp>
        <p:nvSpPr>
          <p:cNvPr id="15" name="Бейдж 4"/>
          <p:cNvSpPr/>
          <p:nvPr/>
        </p:nvSpPr>
        <p:spPr>
          <a:xfrm>
            <a:off x="3611880" y="4928616"/>
            <a:ext cx="566928" cy="566928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1188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0" y="483717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Квест, монеты, рейтинг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за задания, «Починить!» и конструктор новых аттракционов.</a:t>
            </a:r>
            <a:endParaRPr lang="en-US" sz="2000" dirty="0"/>
          </a:p>
        </p:txBody>
      </p:sp>
      <p:pic>
        <p:nvPicPr>
          <p:cNvPr id="18" name="Учитель WIDE показывает вверх" descr="Учитель WIDE показывает ввер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14600"/>
            <a:ext cx="1602074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УЛИКА  ·  СТАТУС И ПРИЧИНА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 причину до того, как пришёл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Игровая карта парка со статусами" descr="Игровая карта парка со статуса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Корпус телефона"/>
          <p:cNvSpPr/>
          <p:nvPr/>
        </p:nvSpPr>
        <p:spPr>
          <a:xfrm>
            <a:off x="3238455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7" name="Экран: Карточка аттракциона на ремонте: причина и срок" descr="Карточка аттракциона на ремонте: причина и сро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039" y="1655064"/>
            <a:ext cx="1940007" cy="4187952"/>
          </a:xfrm>
          <a:prstGeom prst="rect">
            <a:avLst/>
          </a:prstGeom>
        </p:spPr>
      </p:pic>
      <p:sp>
        <p:nvSpPr>
          <p:cNvPr id="8" name="Бейдж 1"/>
          <p:cNvSpPr/>
          <p:nvPr/>
        </p:nvSpPr>
        <p:spPr>
          <a:xfrm>
            <a:off x="6355080" y="1737360"/>
            <a:ext cx="566928" cy="566928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5508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1600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Светофор на карте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— работает, жёлтый — ветер или гроза, красный — ремонт.</a:t>
            </a:r>
            <a:endParaRPr lang="en-US" sz="1900" dirty="0"/>
          </a:p>
        </p:txBody>
      </p:sp>
      <p:sp>
        <p:nvSpPr>
          <p:cNvPr id="11" name="Бейдж 2"/>
          <p:cNvSpPr/>
          <p:nvPr/>
        </p:nvSpPr>
        <p:spPr>
          <a:xfrm>
            <a:off x="6355080" y="2926080"/>
            <a:ext cx="566928" cy="566928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550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27889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и срок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«Замена гидроцилиндра, вернётся 28 октября» — прямо на карточке.</a:t>
            </a:r>
            <a:endParaRPr lang="en-US" sz="1900" dirty="0"/>
          </a:p>
        </p:txBody>
      </p:sp>
      <p:sp>
        <p:nvSpPr>
          <p:cNvPr id="14" name="Бейдж 3"/>
          <p:cNvSpPr/>
          <p:nvPr/>
        </p:nvSpPr>
        <p:spPr>
          <a:xfrm>
            <a:off x="6355080" y="4114800"/>
            <a:ext cx="566928" cy="566928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5508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977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Сообщить, когда заработает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аттракцион: гость придёт, когда он уже в строю.</a:t>
            </a:r>
            <a:endParaRPr lang="en-US" sz="1900" dirty="0"/>
          </a:p>
        </p:txBody>
      </p:sp>
      <p:sp>
        <p:nvSpPr>
          <p:cNvPr id="17" name="Плашка"/>
          <p:cNvSpPr/>
          <p:nvPr/>
        </p:nvSpPr>
        <p:spPr>
          <a:xfrm>
            <a:off x="6355080" y="5212080"/>
            <a:ext cx="4983480" cy="731520"/>
          </a:xfrm>
          <a:prstGeom prst="roundRect">
            <a:avLst>
              <a:gd name="adj" fmla="val 18750"/>
            </a:avLst>
          </a:prstGeom>
          <a:solidFill>
            <a:srgbClr val="FFF4E0"/>
          </a:solidFill>
          <a:ln w="19050">
            <a:solidFill>
              <a:srgbClr val="F392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83680" y="5212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гроза считаются по настоящему прогнозу. Ремонты в демо смоделированы — в боевой версии их вводит оператор парка.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ХОД РАССЛЕДОВАНИЯ  ·  КВЕСТ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Сюжетный квест с баллами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Экран квеста: уровень, монеты, главы" descr="Экран квеста: уровень, монеты, глав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Факт квеста 1"/>
          <p:cNvSpPr/>
          <p:nvPr/>
        </p:nvSpPr>
        <p:spPr>
          <a:xfrm>
            <a:off x="3611880" y="1600200"/>
            <a:ext cx="6035040" cy="1051560"/>
          </a:xfrm>
          <a:prstGeom prst="roundRect">
            <a:avLst>
              <a:gd name="adj" fmla="val 130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749040" y="16459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6459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 и финал «Хранитель Сказки»: дино-экспедиция, друзья Кота, вихрь и молния, тайны Бабы Яги…</a:t>
            </a:r>
            <a:endParaRPr lang="en-US" sz="1400" dirty="0"/>
          </a:p>
        </p:txBody>
      </p:sp>
      <p:sp>
        <p:nvSpPr>
          <p:cNvPr id="9" name="Факт квеста 2"/>
          <p:cNvSpPr/>
          <p:nvPr/>
        </p:nvSpPr>
        <p:spPr>
          <a:xfrm>
            <a:off x="3611880" y="2788920"/>
            <a:ext cx="6035040" cy="1051560"/>
          </a:xfrm>
          <a:prstGeom prst="roundRect">
            <a:avLst>
              <a:gd name="adj" fmla="val 130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28346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6B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28346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 заданий: дома (викторины) и в парке (отметка по геолокации, мини-игра)</a:t>
            </a:r>
            <a:endParaRPr lang="en-US" sz="1400" dirty="0"/>
          </a:p>
        </p:txBody>
      </p:sp>
      <p:sp>
        <p:nvSpPr>
          <p:cNvPr id="12" name="Факт квеста 3"/>
          <p:cNvSpPr/>
          <p:nvPr/>
        </p:nvSpPr>
        <p:spPr>
          <a:xfrm>
            <a:off x="3611880" y="3977640"/>
            <a:ext cx="6035040" cy="1051560"/>
          </a:xfrm>
          <a:prstGeom prst="roundRect">
            <a:avLst>
              <a:gd name="adj" fmla="val 130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40233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402336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 за визит в «тихий» час — антиочередь работает как награда</a:t>
            </a:r>
            <a:endParaRPr lang="en-US" sz="1400" dirty="0"/>
          </a:p>
        </p:txBody>
      </p:sp>
      <p:sp>
        <p:nvSpPr>
          <p:cNvPr id="15" name="Плашка"/>
          <p:cNvSpPr/>
          <p:nvPr/>
        </p:nvSpPr>
        <p:spPr>
          <a:xfrm>
            <a:off x="3611880" y="5257800"/>
            <a:ext cx="6035040" cy="6858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9050">
            <a:solidFill>
              <a:srgbClr val="006EB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40480" y="52578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нужный аттракцион на ремонте, задание автоматически заменяется другим — квест не ломается.</a:t>
            </a:r>
            <a:endParaRPr lang="en-US" sz="1400" dirty="0"/>
          </a:p>
        </p:txBody>
      </p:sp>
      <p:pic>
        <p:nvPicPr>
          <p:cNvPr id="17" name="Девочка WIDE: палец вверх" descr="Девочка WIDE: палец ввер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651760"/>
            <a:ext cx="1339552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УЛИКИ СОБИРАЮТ САМИ ГОСТИ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любят и что просят починить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Голосование «Починить!»" descr="Голосование «Починить!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Корпус телефона"/>
          <p:cNvSpPr/>
          <p:nvPr/>
        </p:nvSpPr>
        <p:spPr>
          <a:xfrm>
            <a:off x="3238455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7" name="Экран: Каталог со статусами «Ремонт»" descr="Каталог со статусами «Ремонт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039" y="1655064"/>
            <a:ext cx="1940007" cy="4187952"/>
          </a:xfrm>
          <a:prstGeom prst="rect">
            <a:avLst/>
          </a:prstGeom>
        </p:spPr>
      </p:pic>
      <p:sp>
        <p:nvSpPr>
          <p:cNvPr id="8" name="Бейдж 1"/>
          <p:cNvSpPr/>
          <p:nvPr/>
        </p:nvSpPr>
        <p:spPr>
          <a:xfrm>
            <a:off x="6355080" y="1783080"/>
            <a:ext cx="566928" cy="566928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55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16002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больше играют — там больше любят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складывается из мини-игр, сердечек и отметок. Парк видит реальный интерес.</a:t>
            </a:r>
            <a:endParaRPr lang="en-US" sz="1800" dirty="0"/>
          </a:p>
        </p:txBody>
      </p:sp>
      <p:sp>
        <p:nvSpPr>
          <p:cNvPr id="11" name="Бейдж 2"/>
          <p:cNvSpPr/>
          <p:nvPr/>
        </p:nvSpPr>
        <p:spPr>
          <a:xfrm>
            <a:off x="6355080" y="3154680"/>
            <a:ext cx="566928" cy="566928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55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2971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«Починить!»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Аттракцион на ремонте собирает голоса (цель — 150). Заявка уходит оператору.</a:t>
            </a:r>
            <a:endParaRPr lang="en-US" sz="1800" dirty="0"/>
          </a:p>
        </p:txBody>
      </p:sp>
      <p:sp>
        <p:nvSpPr>
          <p:cNvPr id="14" name="Бейдж 3"/>
          <p:cNvSpPr/>
          <p:nvPr/>
        </p:nvSpPr>
        <p:spPr>
          <a:xfrm>
            <a:off x="6355080" y="4526280"/>
            <a:ext cx="566928" cy="566928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5508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43434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как опрос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Гость играет — парк получает данные, а не анкету.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СЛЕДСТВЕННЫЙ ЭКСПЕРИМЕНТ  ·  СТРОЙКА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 придумывают аттракционы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Конструктор аттракционов с моделью" descr="Конструктор аттракционов с модель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Бейдж 1"/>
          <p:cNvSpPr/>
          <p:nvPr/>
        </p:nvSpPr>
        <p:spPr>
          <a:xfrm>
            <a:off x="3611880" y="1828800"/>
            <a:ext cx="566928" cy="566928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645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 из деталей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типов (горки, колесо, башня, карусель, корабль, дом) × 6 тем × «мёртвая петля», туман, подсветка и другое.</a:t>
            </a:r>
            <a:endParaRPr lang="en-US" sz="2000" dirty="0"/>
          </a:p>
        </p:txBody>
      </p:sp>
      <p:sp>
        <p:nvSpPr>
          <p:cNvPr id="9" name="Бейдж 2"/>
          <p:cNvSpPr/>
          <p:nvPr/>
        </p:nvSpPr>
        <p:spPr>
          <a:xfrm>
            <a:off x="3611880" y="3200400"/>
            <a:ext cx="566928" cy="566928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1188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30175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интереса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рейтингу похожих аттракционов в игре — ориентир, а не инженерный расчёт.</a:t>
            </a:r>
            <a:endParaRPr lang="en-US" sz="2000" dirty="0"/>
          </a:p>
        </p:txBody>
      </p:sp>
      <p:sp>
        <p:nvSpPr>
          <p:cNvPr id="12" name="Бейдж 3"/>
          <p:cNvSpPr/>
          <p:nvPr/>
        </p:nvSpPr>
        <p:spPr>
          <a:xfrm>
            <a:off x="3611880" y="4572000"/>
            <a:ext cx="566928" cy="566928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4389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«Хотим построить»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получают голоса. Лучшие попадают в рейтинг, который видит парк.</a:t>
            </a:r>
            <a:endParaRPr lang="en-US" sz="2000" dirty="0"/>
          </a:p>
        </p:txBody>
      </p:sp>
      <p:pic>
        <p:nvPicPr>
          <p:cNvPr id="15" name="Мальчик WIDE: большой палец" descr="Мальчик WIDE: большой пале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108960"/>
            <a:ext cx="1355697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ВЕЩЕСТВЕННОЕ ДОКАЗАТЕЛЬСТВО  ·  ОЧЕРЕДИ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субботы почти втрое выше среды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68680" y="15544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Вывод по очередям"/>
          <p:cNvSpPr/>
          <p:nvPr/>
        </p:nvSpPr>
        <p:spPr>
          <a:xfrm>
            <a:off x="8092440" y="1554480"/>
            <a:ext cx="3200400" cy="438912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 ДАЁТ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10312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в 15:00 — 100% против 33%.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тихие часы гостю выгодно прийти: монеты ×3. Парк получает разгрузку пиков.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оценочная: день недели, время, погода, праздники и ваши отметки. Данные турникетов парка сделают её точной.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ВЫГОДА ДЛЯ ЗАКАЗЧИКА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парк</a:t>
            </a:r>
            <a:endParaRPr lang="en-US" sz="3200" dirty="0"/>
          </a:p>
        </p:txBody>
      </p:sp>
      <p:sp>
        <p:nvSpPr>
          <p:cNvPr id="4" name="Выгода 1"/>
          <p:cNvSpPr/>
          <p:nvPr/>
        </p:nvSpPr>
        <p:spPr>
          <a:xfrm>
            <a:off x="868680" y="164592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097280" y="1874520"/>
            <a:ext cx="640080" cy="64008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6" name="Image 0" descr="FaTo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на ремонт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какой аттракцион ждут больше всего и сколько голосов за него.</a:t>
            </a:r>
            <a:endParaRPr lang="en-US" sz="1400" dirty="0"/>
          </a:p>
        </p:txBody>
      </p:sp>
      <p:sp>
        <p:nvSpPr>
          <p:cNvPr id="9" name="Выгода 2"/>
          <p:cNvSpPr/>
          <p:nvPr/>
        </p:nvSpPr>
        <p:spPr>
          <a:xfrm>
            <a:off x="4389120" y="164592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pic>
        <p:nvPicPr>
          <p:cNvPr id="11" name="Image 1" descr="FaHe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Любимые аттракционы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по играм, сердечкам и отметкам — не по анкетам.</a:t>
            </a:r>
            <a:endParaRPr lang="en-US" sz="1400" dirty="0"/>
          </a:p>
        </p:txBody>
      </p:sp>
      <p:sp>
        <p:nvSpPr>
          <p:cNvPr id="14" name="Выгода 3"/>
          <p:cNvSpPr/>
          <p:nvPr/>
        </p:nvSpPr>
        <p:spPr>
          <a:xfrm>
            <a:off x="7909560" y="164592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5" name="Круг иконки"/>
          <p:cNvSpPr/>
          <p:nvPr/>
        </p:nvSpPr>
        <p:spPr>
          <a:xfrm>
            <a:off x="8138160" y="1874520"/>
            <a:ext cx="640080" cy="64008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6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779" y="2028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гостей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13816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хотят построить, с голосами и оценкой интереса.</a:t>
            </a:r>
            <a:endParaRPr lang="en-US" sz="1400" dirty="0"/>
          </a:p>
        </p:txBody>
      </p:sp>
      <p:sp>
        <p:nvSpPr>
          <p:cNvPr id="19" name="Выгода 4"/>
          <p:cNvSpPr/>
          <p:nvPr/>
        </p:nvSpPr>
        <p:spPr>
          <a:xfrm>
            <a:off x="868680" y="384048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0" name="Круг иконки"/>
          <p:cNvSpPr/>
          <p:nvPr/>
        </p:nvSpPr>
        <p:spPr>
          <a:xfrm>
            <a:off x="1097280" y="4069080"/>
            <a:ext cx="640080" cy="64008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21" name="Image 3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42226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7452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статусами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09728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меняет статус и причину — подписчики получают уведомление.</a:t>
            </a:r>
            <a:endParaRPr lang="en-US" sz="1400" dirty="0"/>
          </a:p>
        </p:txBody>
      </p:sp>
      <p:sp>
        <p:nvSpPr>
          <p:cNvPr id="24" name="Выгода 5"/>
          <p:cNvSpPr/>
          <p:nvPr/>
        </p:nvSpPr>
        <p:spPr>
          <a:xfrm>
            <a:off x="4389120" y="384048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5" name="Круг иконки"/>
          <p:cNvSpPr/>
          <p:nvPr/>
        </p:nvSpPr>
        <p:spPr>
          <a:xfrm>
            <a:off x="4617720" y="4069080"/>
            <a:ext cx="640080" cy="640080"/>
          </a:xfrm>
          <a:prstGeom prst="ellipse">
            <a:avLst/>
          </a:prstGeom>
          <a:solidFill>
            <a:srgbClr val="7B4FC4"/>
          </a:solidFill>
          <a:ln w="12700">
            <a:solidFill>
              <a:srgbClr val="7B4FC4"/>
            </a:solidFill>
            <a:prstDash val="solid"/>
          </a:ln>
        </p:spPr>
      </p:sp>
      <p:pic>
        <p:nvPicPr>
          <p:cNvPr id="26" name="Image 4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339" y="422269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Разгрузка пиков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Монеты ×3 в тихие часы переводят часть потока на спокойное время.</a:t>
            </a:r>
            <a:endParaRPr lang="en-US" sz="1400" dirty="0"/>
          </a:p>
        </p:txBody>
      </p:sp>
      <p:sp>
        <p:nvSpPr>
          <p:cNvPr id="29" name="Выгода 6"/>
          <p:cNvSpPr/>
          <p:nvPr/>
        </p:nvSpPr>
        <p:spPr>
          <a:xfrm>
            <a:off x="7909560" y="384048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0" name="Круг иконки"/>
          <p:cNvSpPr/>
          <p:nvPr/>
        </p:nvSpPr>
        <p:spPr>
          <a:xfrm>
            <a:off x="8138160" y="4069080"/>
            <a:ext cx="640080" cy="640080"/>
          </a:xfrm>
          <a:prstGeom prst="ellipse">
            <a:avLst/>
          </a:prstGeom>
          <a:solidFill>
            <a:srgbClr val="00A3AD"/>
          </a:solidFill>
          <a:ln w="12700">
            <a:solidFill>
              <a:srgbClr val="00A3AD"/>
            </a:solidFill>
            <a:prstDash val="solid"/>
          </a:ln>
        </p:spPr>
      </p:sp>
      <p:pic>
        <p:nvPicPr>
          <p:cNvPr id="31" name="Image 5" descr="FaCoi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779" y="422269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1540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Повод вернуться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13816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Квест, уровни и награды вместо «разового удовольствия».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ПРОТОКОЛ  ·  ЧТО НАСТОЯЩЕЕ, ЧТО ДЕМО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Работаем честно</a:t>
            </a:r>
            <a:endParaRPr lang="en-US" sz="3200" dirty="0"/>
          </a:p>
        </p:txBody>
      </p:sp>
      <p:sp>
        <p:nvSpPr>
          <p:cNvPr id="4" name="Настоящее"/>
          <p:cNvSpPr/>
          <p:nvPr/>
        </p:nvSpPr>
        <p:spPr>
          <a:xfrm>
            <a:off x="868680" y="1645920"/>
            <a:ext cx="5074920" cy="4206240"/>
          </a:xfrm>
          <a:prstGeom prst="roundRect">
            <a:avLst>
              <a:gd name="adj" fmla="val 3261"/>
            </a:avLst>
          </a:prstGeom>
          <a:solidFill>
            <a:srgbClr val="EAF6DD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143000" y="1874520"/>
            <a:ext cx="640080" cy="64008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61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Настоящее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743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 по часам на 16 дней (Open-Meteo) и климат за 11 лет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Геолокация и расстояние до парка, спутник и ссылки в 2ГИС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Фото, названия, цены «от» и ограничения по росту с сайта парка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гроза как причины остановки</a:t>
            </a:r>
            <a:endParaRPr lang="en-US" sz="1600" dirty="0"/>
          </a:p>
        </p:txBody>
      </p:sp>
      <p:sp>
        <p:nvSpPr>
          <p:cNvPr id="9" name="Демо"/>
          <p:cNvSpPr/>
          <p:nvPr/>
        </p:nvSpPr>
        <p:spPr>
          <a:xfrm>
            <a:off x="6217920" y="1645920"/>
            <a:ext cx="5074920" cy="4206240"/>
          </a:xfrm>
          <a:prstGeom prst="roundRect">
            <a:avLst>
              <a:gd name="adj" fmla="val 3261"/>
            </a:avLst>
          </a:prstGeom>
          <a:solidFill>
            <a:srgbClr val="FFF4E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1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Демо-данные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743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Плановые ремонты и сроки возврата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Стартовый рейтинг, голоса и идеи (дальше растут от действий гостей)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очередей — модель, ждёт данных турникетов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Награды — механика без условий парка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ХОД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идея — завтра будущее</a:t>
            </a:r>
            <a:endParaRPr lang="en-US" sz="3200" dirty="0"/>
          </a:p>
        </p:txBody>
      </p:sp>
      <p:sp>
        <p:nvSpPr>
          <p:cNvPr id="4" name="Шаг 1"/>
          <p:cNvSpPr/>
          <p:nvPr/>
        </p:nvSpPr>
        <p:spPr>
          <a:xfrm>
            <a:off x="868680" y="1691640"/>
            <a:ext cx="3337560" cy="4023360"/>
          </a:xfrm>
          <a:prstGeom prst="roundRect">
            <a:avLst>
              <a:gd name="adj" fmla="val 411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143000" y="1920240"/>
            <a:ext cx="822960" cy="82296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6" name="Image 0" descr="FaTro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1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6B7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СЕГОДНЯ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прототип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023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Игра-квест, карта статусов, рейтинг любимых, «Починить!», стройка и режим оператора.</a:t>
            </a:r>
            <a:endParaRPr lang="en-US" sz="1400" dirty="0"/>
          </a:p>
        </p:txBody>
      </p:sp>
      <p:sp>
        <p:nvSpPr>
          <p:cNvPr id="10" name="Шаг 2"/>
          <p:cNvSpPr/>
          <p:nvPr/>
        </p:nvSpPr>
        <p:spPr>
          <a:xfrm>
            <a:off x="4389120" y="1691640"/>
            <a:ext cx="3337560" cy="4023360"/>
          </a:xfrm>
          <a:prstGeom prst="roundRect">
            <a:avLst>
              <a:gd name="adj" fmla="val 411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4663440" y="1920240"/>
            <a:ext cx="822960" cy="82296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12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211775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6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ЗАВТРА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ИИ-агент Кот Баюн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023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Ведёт квест в диалоге, объясняет причины остановок, подбирает маршрут и помогает собрать аттракцион.</a:t>
            </a:r>
            <a:endParaRPr lang="en-US" sz="1400" dirty="0"/>
          </a:p>
        </p:txBody>
      </p:sp>
      <p:sp>
        <p:nvSpPr>
          <p:cNvPr id="16" name="Шаг 3"/>
          <p:cNvSpPr/>
          <p:nvPr/>
        </p:nvSpPr>
        <p:spPr>
          <a:xfrm>
            <a:off x="7909560" y="1691640"/>
            <a:ext cx="3337560" cy="4023360"/>
          </a:xfrm>
          <a:prstGeom prst="roundRect">
            <a:avLst>
              <a:gd name="adj" fmla="val 411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8183880" y="1920240"/>
            <a:ext cx="822960" cy="82296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8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390" y="211775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838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9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парка и база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183880" y="4023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статусы и очереди от парка, общая база голосов и идей, уведомления в мессенджер.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9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 ·  СТАТУС: ЗАКРЫТО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6766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РАСКРЫТО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Парк «Сказка» получает не просто сайт, а игру, которая объясняет, развлекает и собирает данные.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29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 ·  Николай  ·  Артем  ·  Глеб  ·  Кирилл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Hackathon team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идеи сегодня делают будущее завтра</a:t>
            </a:r>
            <a:endParaRPr lang="en-US" sz="1700" dirty="0"/>
          </a:p>
        </p:txBody>
      </p:sp>
      <p:pic>
        <p:nvPicPr>
          <p:cNvPr id="8" name="Image 0" descr="Отпечаток пальц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05840"/>
            <a:ext cx="1737360" cy="1737360"/>
          </a:xfrm>
          <a:prstGeom prst="rect">
            <a:avLst/>
          </a:prstGeom>
        </p:spPr>
      </p:pic>
      <p:pic>
        <p:nvPicPr>
          <p:cNvPr id="9" name="Учитель WIDE: палец вверх" descr="Учитель WIDE: палец ввер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971800"/>
            <a:ext cx="1675075" cy="3611880"/>
          </a:xfrm>
          <a:prstGeom prst="rect">
            <a:avLst/>
          </a:prstGeom>
        </p:spPr>
      </p:pic>
      <p:pic>
        <p:nvPicPr>
          <p:cNvPr id="10" name="Мальчик WIDE: палец вверх" descr="Мальчик WIDE: палец ввер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46120"/>
            <a:ext cx="1499483" cy="3337560"/>
          </a:xfrm>
          <a:prstGeom prst="rect">
            <a:avLst/>
          </a:prstGeom>
        </p:spPr>
      </p:pic>
      <p:pic>
        <p:nvPicPr>
          <p:cNvPr id="11" name="Девочка WIDE: палец вверх" descr="Девочка WIDE: палец ввер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2743200"/>
            <a:ext cx="1615342" cy="3749040"/>
          </a:xfrm>
          <a:prstGeom prst="rect">
            <a:avLst/>
          </a:prstGeom>
        </p:spPr>
      </p:pic>
      <p:sp>
        <p:nvSpPr>
          <p:cNvPr id="12" name="Штамп"/>
          <p:cNvSpPr txBox="1"/>
          <p:nvPr/>
        </p:nvSpPr>
        <p:spPr>
          <a:xfrm rot="-540000">
            <a:off x="5577840" y="5577840"/>
            <a:ext cx="2011680" cy="548640"/>
          </a:xfrm>
          <a:prstGeom prst="rect">
            <a:avLst/>
          </a:prstGeom>
          <a:noFill/>
          <a:ln w="38100">
            <a:solidFill>
              <a:srgbClr val="FF4A6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ВОПРОСЫ?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DE">
  <a:themeElements>
    <a:clrScheme name="WIDE">
      <a:dk1>
        <a:srgbClr val="1F2A44"/>
      </a:dk1>
      <a:lt1>
        <a:srgbClr val="FFFFFF"/>
      </a:lt1>
      <a:dk2>
        <a:srgbClr val="006EB7"/>
      </a:dk2>
      <a:lt2>
        <a:srgbClr val="EEF5FC"/>
      </a:lt2>
      <a:accent1>
        <a:srgbClr val="006EB7"/>
      </a:accent1>
      <a:accent2>
        <a:srgbClr val="E4013A"/>
      </a:accent2>
      <a:accent3>
        <a:srgbClr val="F39200"/>
      </a:accent3>
      <a:accent4>
        <a:srgbClr val="76B729"/>
      </a:accent4>
      <a:accent5>
        <a:srgbClr val="7B4FC4"/>
      </a:accent5>
      <a:accent6>
        <a:srgbClr val="00A3AD"/>
      </a:accent6>
      <a:hlink>
        <a:srgbClr val="006EB7"/>
      </a:hlink>
      <a:folHlink>
        <a:srgbClr val="7B4FC4"/>
      </a:folHlink>
    </a:clrScheme>
    <a:fontScheme name="WI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Хранитель Сказки — WIDE Hackathon team</dc:title>
  <dc:subject>PptxGenJS Presentation</dc:subject>
  <dc:creator>WIDE Hackathon team</dc:creator>
  <cp:lastModifiedBy>WIDE Hackathon team</cp:lastModifiedBy>
  <cp:revision>1</cp:revision>
  <dcterms:created xsi:type="dcterms:W3CDTF">2026-10-21T08:22:18Z</dcterms:created>
  <dcterms:modified xsi:type="dcterms:W3CDTF">2026-10-21T08:22:18Z</dcterms:modified>
</cp:coreProperties>
</file>