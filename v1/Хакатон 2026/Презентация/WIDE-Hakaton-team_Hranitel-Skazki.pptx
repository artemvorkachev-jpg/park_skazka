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Суббота, 24 октября</c:v>
                </c:pt>
              </c:strCache>
            </c:strRef>
          </c:tx>
          <c:spPr>
            <a:solidFill>
              <a:srgbClr val="F39200"/>
            </a:solidFill>
            <a:ln w="50800" cap="flat">
              <a:solidFill>
                <a:srgbClr val="F392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39200"/>
              </a:solidFill>
              <a:ln w="9525" cap="flat">
                <a:solidFill>
                  <a:srgbClr val="F392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10</c:v>
                  </c:pt>
                  <c:pt idx="1">
                    <c:v>11</c:v>
                  </c:pt>
                  <c:pt idx="2">
                    <c:v>12</c:v>
                  </c:pt>
                  <c:pt idx="3">
                    <c:v>13</c:v>
                  </c:pt>
                  <c:pt idx="4">
                    <c:v>14</c:v>
                  </c:pt>
                  <c:pt idx="5">
                    <c:v>15</c:v>
                  </c:pt>
                  <c:pt idx="6">
                    <c:v>16</c:v>
                  </c:pt>
                  <c:pt idx="7">
                    <c:v>17</c:v>
                  </c:pt>
                  <c:pt idx="8">
                    <c:v>18</c:v>
                  </c:pt>
                  <c:pt idx="9">
                    <c:v>19</c:v>
                  </c:pt>
                  <c:pt idx="10">
                    <c:v>20</c:v>
                  </c:pt>
                  <c:pt idx="11">
                    <c:v>21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29</c:v>
                </c:pt>
                <c:pt idx="1">
                  <c:v>49</c:v>
                </c:pt>
                <c:pt idx="2">
                  <c:v>69</c:v>
                </c:pt>
                <c:pt idx="3">
                  <c:v>87</c:v>
                </c:pt>
                <c:pt idx="4">
                  <c:v>99</c:v>
                </c:pt>
                <c:pt idx="5">
                  <c:v>100</c:v>
                </c:pt>
                <c:pt idx="6">
                  <c:v>92</c:v>
                </c:pt>
                <c:pt idx="7">
                  <c:v>74</c:v>
                </c:pt>
                <c:pt idx="8">
                  <c:v>67</c:v>
                </c:pt>
                <c:pt idx="9">
                  <c:v>58</c:v>
                </c:pt>
                <c:pt idx="10">
                  <c:v>44</c:v>
                </c:pt>
                <c:pt idx="11">
                  <c:v>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Среда, 21 октября</c:v>
                </c:pt>
              </c:strCache>
            </c:strRef>
          </c:tx>
          <c:spPr>
            <a:solidFill>
              <a:srgbClr val="006EB7"/>
            </a:solidFill>
            <a:ln w="50800" cap="flat">
              <a:solidFill>
                <a:srgbClr val="006EB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06EB7"/>
              </a:solidFill>
              <a:ln w="9525" cap="flat">
                <a:solidFill>
                  <a:srgbClr val="006EB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10</c:v>
                  </c:pt>
                  <c:pt idx="1">
                    <c:v>11</c:v>
                  </c:pt>
                  <c:pt idx="2">
                    <c:v>12</c:v>
                  </c:pt>
                  <c:pt idx="3">
                    <c:v>13</c:v>
                  </c:pt>
                  <c:pt idx="4">
                    <c:v>14</c:v>
                  </c:pt>
                  <c:pt idx="5">
                    <c:v>15</c:v>
                  </c:pt>
                  <c:pt idx="6">
                    <c:v>16</c:v>
                  </c:pt>
                  <c:pt idx="7">
                    <c:v>17</c:v>
                  </c:pt>
                  <c:pt idx="8">
                    <c:v>18</c:v>
                  </c:pt>
                  <c:pt idx="9">
                    <c:v>19</c:v>
                  </c:pt>
                  <c:pt idx="10">
                    <c:v>20</c:v>
                  </c:pt>
                  <c:pt idx="11">
                    <c:v>21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</c:v>
                </c:pt>
                <c:pt idx="1">
                  <c:v>9</c:v>
                </c:pt>
                <c:pt idx="2">
                  <c:v>16</c:v>
                </c:pt>
                <c:pt idx="3">
                  <c:v>23</c:v>
                </c:pt>
                <c:pt idx="4">
                  <c:v>29</c:v>
                </c:pt>
                <c:pt idx="5">
                  <c:v>33</c:v>
                </c:pt>
                <c:pt idx="6">
                  <c:v>35</c:v>
                </c:pt>
                <c:pt idx="7">
                  <c:v>30</c:v>
                </c:pt>
                <c:pt idx="8">
                  <c:v>25</c:v>
                </c:pt>
                <c:pt idx="9">
                  <c:v>14</c:v>
                </c:pt>
                <c:pt idx="10">
                  <c:v>8</c:v>
                </c:pt>
                <c:pt idx="11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A9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6B7A90"/>
                    </a:solidFill>
                    <a:latin typeface="Arial"/>
                  </a:rPr>
                  <a:t>Час, ч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DE6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6B7A9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6B7A90"/>
                    </a:solidFill>
                    <a:latin typeface="Arial"/>
                  </a:rPr>
                  <a:t>Загрузка,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F2A4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Мы — WIDE Hakaton team. Наш девиз: наши идеи сегодня делают будущее завтра. Мы расследовали парк «Сказка» и нашли, как превратить визит в игру.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Сергей, Николай, Артем, Глеб и Кирилл — команда WIDE Hakaton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Данные — с официального сайта парка на 21.10.2026.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Улики собраны из открытых отзывов и разбора официального сайта парка.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Идея: гость не читает сайт, а проходит игру вместе с Котом Баюном.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ответ на «слепое пятно» сайта: гость заранее знает, что не работает и почему.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Баллы дают уровни: Путник, Следопыт, Богатырь, Царевич, Хранитель Сказки. Награды — демонстрация механики.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Идея: где больше играют, там больше нравится. Если аттракцион на ремонте — предлагаем починить и видим, что любят больше.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 аттракциона рисуется автоматически по выбранным параметрам.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График построен нашей моделью очередей по реальному прогнозу погоды на выбранные даты.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Режим оператора уже есть в прототипе: статусы, спрос на ремонт, идеи.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честно разделяем настоящее и демонстрационное. В боевой версии статусы вводит оператор, голоса хранятся в базе.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Завтра на хакатоне создаём ИИ-агента — голос Кота Баюна.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Спасибо! Вопросы?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WIDE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WIDE_NOIR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1460175" cy="6217920"/>
          </a:xfrm>
          <a:prstGeom prst="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1F4E79">
                <a:alpha val="18000"/>
              </a:srgbClr>
            </a:outerShdw>
          </a:effectLst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68680" y="676656"/>
            <a:ext cx="95097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pic>
        <p:nvPicPr>
          <p:cNvPr id="4" name="Image 0" descr="C:/Users/WIDE/AppData/Local/Temp/claude/C--Users-WIDE--claude-spares-spare-Cb9EuE/02f41764-c908-4924-8b0e-1cf8d36ca4c3/scratchpad/deck/img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502920"/>
            <a:ext cx="868680" cy="8686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868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· Hakaton team · Хранитель Сказки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1447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DE_NOI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WIDE/AppData/Local/Temp/claude/C--Users-WIDE--claude-spares-spare-Cb9EuE/02f41764-c908-4924-8b0e-1cf8d36ca4c3/scratchpad/deck/img/emblem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502920"/>
            <a:ext cx="868680" cy="8686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1447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39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ДЕЛО № 2026-WIDE  ·  ГРИФ: ОТКРЫТО</a:t>
            </a:r>
            <a:endParaRPr lang="en-US" sz="1400" dirty="0"/>
          </a:p>
        </p:txBody>
      </p:sp>
      <p:sp>
        <p:nvSpPr>
          <p:cNvPr id="3" name="Название проекта"/>
          <p:cNvSpPr txBox="1"/>
          <p:nvPr/>
        </p:nvSpPr>
        <p:spPr>
          <a:xfrm>
            <a:off x="731520" y="1325880"/>
            <a:ext cx="6766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ХРАНИТЕЛЬ</a:t>
            </a:r>
            <a:endParaRPr lang="en-US" sz="7200" dirty="0"/>
          </a:p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СКАЗКИ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8620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Расследование: почему в парке аттракционов люди стоят в очередях — и как превратить визит в игру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9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Hakaton team</a:t>
            </a:r>
            <a:endParaRPr lang="en-US" sz="2800" dirty="0"/>
          </a:p>
        </p:txBody>
      </p:sp>
      <p:sp>
        <p:nvSpPr>
          <p:cNvPr id="6" name="Девиз"/>
          <p:cNvSpPr txBox="1"/>
          <p:nvPr/>
        </p:nvSpPr>
        <p:spPr>
          <a:xfrm>
            <a:off x="731520" y="5669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Наши идеи сегодня делают будущее завтра</a:t>
            </a:r>
            <a:endParaRPr lang="en-US" sz="2000" dirty="0"/>
          </a:p>
        </p:txBody>
      </p:sp>
      <p:pic>
        <p:nvPicPr>
          <p:cNvPr id="7" name="Image 0" descr="Лупа следовател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097280"/>
            <a:ext cx="1828800" cy="1828800"/>
          </a:xfrm>
          <a:prstGeom prst="rect">
            <a:avLst/>
          </a:prstGeom>
        </p:spPr>
      </p:pic>
      <p:sp>
        <p:nvSpPr>
          <p:cNvPr id="8" name="Штамп"/>
          <p:cNvSpPr txBox="1"/>
          <p:nvPr/>
        </p:nvSpPr>
        <p:spPr>
          <a:xfrm rot="-540000">
            <a:off x="4572000" y="4983480"/>
            <a:ext cx="2743200" cy="594360"/>
          </a:xfrm>
          <a:prstGeom prst="rect">
            <a:avLst/>
          </a:prstGeom>
          <a:noFill/>
          <a:ln w="38100">
            <a:solidFill>
              <a:srgbClr val="FF4A6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РАССЛЕДОВАНИЕ</a:t>
            </a:r>
            <a:endParaRPr lang="en-US" sz="2000" dirty="0"/>
          </a:p>
        </p:txBody>
      </p:sp>
      <p:pic>
        <p:nvPicPr>
          <p:cNvPr id="9" name="Учитель WIDE" descr="Учитель WI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971800"/>
            <a:ext cx="1687518" cy="3611880"/>
          </a:xfrm>
          <a:prstGeom prst="rect">
            <a:avLst/>
          </a:prstGeom>
        </p:spPr>
      </p:pic>
      <p:pic>
        <p:nvPicPr>
          <p:cNvPr id="10" name="Мальчик WIDE" descr="Мальчик WI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3246120"/>
            <a:ext cx="1640375" cy="3337560"/>
          </a:xfrm>
          <a:prstGeom prst="rect">
            <a:avLst/>
          </a:prstGeom>
        </p:spPr>
      </p:pic>
      <p:pic>
        <p:nvPicPr>
          <p:cNvPr id="11" name="Девочка WIDE" descr="Девочка WI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2743200"/>
            <a:ext cx="1208335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868680" y="42976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0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ДОСЬЕ  ·  СЛЕДСТВЕННАЯ ГРУППА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6868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WIDE Hakaton team</a:t>
            </a:r>
            <a:endParaRPr lang="en-US" sz="3200" dirty="0"/>
          </a:p>
        </p:txBody>
      </p:sp>
      <p:sp>
        <p:nvSpPr>
          <p:cNvPr id="4" name="Досье Сергей"/>
          <p:cNvSpPr/>
          <p:nvPr/>
        </p:nvSpPr>
        <p:spPr>
          <a:xfrm>
            <a:off x="868680" y="1783080"/>
            <a:ext cx="1920240" cy="3246120"/>
          </a:xfrm>
          <a:prstGeom prst="roundRect">
            <a:avLst>
              <a:gd name="adj" fmla="val 7143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5" name="Круг иконки"/>
          <p:cNvSpPr/>
          <p:nvPr/>
        </p:nvSpPr>
        <p:spPr>
          <a:xfrm>
            <a:off x="1371600" y="2011680"/>
            <a:ext cx="914400" cy="914400"/>
          </a:xfrm>
          <a:prstGeom prst="ellipse">
            <a:avLst/>
          </a:prstGeom>
          <a:solidFill>
            <a:srgbClr val="006EB7"/>
          </a:solidFill>
          <a:ln w="12700">
            <a:solidFill>
              <a:srgbClr val="006EB7"/>
            </a:solidFill>
            <a:prstDash val="solid"/>
          </a:ln>
        </p:spPr>
      </p:sp>
      <p:pic>
        <p:nvPicPr>
          <p:cNvPr id="6" name="Image 0" descr="FaUserSecr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056" y="223113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ДЕЛО №01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474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Сергей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 группы</a:t>
            </a:r>
            <a:endParaRPr lang="en-US" sz="1500" dirty="0"/>
          </a:p>
        </p:txBody>
      </p:sp>
      <p:sp>
        <p:nvSpPr>
          <p:cNvPr id="10" name="Досье Николай"/>
          <p:cNvSpPr/>
          <p:nvPr/>
        </p:nvSpPr>
        <p:spPr>
          <a:xfrm>
            <a:off x="2971800" y="1783080"/>
            <a:ext cx="1920240" cy="3246120"/>
          </a:xfrm>
          <a:prstGeom prst="roundRect">
            <a:avLst>
              <a:gd name="adj" fmla="val 7143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1" name="Круг иконки"/>
          <p:cNvSpPr/>
          <p:nvPr/>
        </p:nvSpPr>
        <p:spPr>
          <a:xfrm>
            <a:off x="3474720" y="2011680"/>
            <a:ext cx="914400" cy="914400"/>
          </a:xfrm>
          <a:prstGeom prst="ellipse">
            <a:avLst/>
          </a:prstGeom>
          <a:solidFill>
            <a:srgbClr val="E4013A"/>
          </a:solidFill>
          <a:ln w="12700">
            <a:solidFill>
              <a:srgbClr val="E4013A"/>
            </a:solidFill>
            <a:prstDash val="solid"/>
          </a:ln>
        </p:spPr>
      </p:sp>
      <p:pic>
        <p:nvPicPr>
          <p:cNvPr id="12" name="Image 1" descr="FaUserSecr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223113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6324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ДЕЛО №02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3017520" y="3474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40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Николай</a:t>
            </a:r>
            <a:endParaRPr lang="en-US" sz="2800" dirty="0"/>
          </a:p>
        </p:txBody>
      </p:sp>
      <p:sp>
        <p:nvSpPr>
          <p:cNvPr id="15" name="Text 11"/>
          <p:cNvSpPr txBox="1"/>
          <p:nvPr/>
        </p:nvSpPr>
        <p:spPr>
          <a:xfrm>
            <a:off x="301752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 группы</a:t>
            </a:r>
            <a:endParaRPr lang="en-US" sz="1500" dirty="0"/>
          </a:p>
        </p:txBody>
      </p:sp>
      <p:sp>
        <p:nvSpPr>
          <p:cNvPr id="16" name="Досье Артем"/>
          <p:cNvSpPr/>
          <p:nvPr/>
        </p:nvSpPr>
        <p:spPr>
          <a:xfrm>
            <a:off x="5074920" y="1783080"/>
            <a:ext cx="1920240" cy="3246120"/>
          </a:xfrm>
          <a:prstGeom prst="roundRect">
            <a:avLst>
              <a:gd name="adj" fmla="val 7143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7" name="Круг иконки"/>
          <p:cNvSpPr/>
          <p:nvPr/>
        </p:nvSpPr>
        <p:spPr>
          <a:xfrm>
            <a:off x="5577840" y="2011680"/>
            <a:ext cx="914400" cy="914400"/>
          </a:xfrm>
          <a:prstGeom prst="ellipse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pic>
        <p:nvPicPr>
          <p:cNvPr id="18" name="Image 2" descr="FaUserSecr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7296" y="2231136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16636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ДЕЛО №03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120640" y="3474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Артем</a:t>
            </a:r>
            <a:endParaRPr lang="en-US" sz="2800" dirty="0"/>
          </a:p>
        </p:txBody>
      </p:sp>
      <p:sp>
        <p:nvSpPr>
          <p:cNvPr id="21" name="Text 16"/>
          <p:cNvSpPr txBox="1"/>
          <p:nvPr/>
        </p:nvSpPr>
        <p:spPr>
          <a:xfrm>
            <a:off x="512064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 группы</a:t>
            </a:r>
            <a:endParaRPr lang="en-US" sz="1500" dirty="0"/>
          </a:p>
        </p:txBody>
      </p:sp>
      <p:sp>
        <p:nvSpPr>
          <p:cNvPr id="22" name="Досье Глеб"/>
          <p:cNvSpPr/>
          <p:nvPr/>
        </p:nvSpPr>
        <p:spPr>
          <a:xfrm>
            <a:off x="7178040" y="1783080"/>
            <a:ext cx="1920240" cy="3246120"/>
          </a:xfrm>
          <a:prstGeom prst="roundRect">
            <a:avLst>
              <a:gd name="adj" fmla="val 7143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23" name="Круг иконки"/>
          <p:cNvSpPr/>
          <p:nvPr/>
        </p:nvSpPr>
        <p:spPr>
          <a:xfrm>
            <a:off x="7680960" y="2011680"/>
            <a:ext cx="914400" cy="914400"/>
          </a:xfrm>
          <a:prstGeom prst="ellipse">
            <a:avLst/>
          </a:prstGeom>
          <a:solidFill>
            <a:srgbClr val="76B729"/>
          </a:solidFill>
          <a:ln w="12700">
            <a:solidFill>
              <a:srgbClr val="76B729"/>
            </a:solidFill>
            <a:prstDash val="solid"/>
          </a:ln>
        </p:spPr>
      </p:sp>
      <p:pic>
        <p:nvPicPr>
          <p:cNvPr id="24" name="Image 3" descr="FaUserSecr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416" y="2231136"/>
            <a:ext cx="475488" cy="47548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26948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ДЕЛО №04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7223760" y="3474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6B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Глеб</a:t>
            </a:r>
            <a:endParaRPr lang="en-US" sz="2800" dirty="0"/>
          </a:p>
        </p:txBody>
      </p:sp>
      <p:sp>
        <p:nvSpPr>
          <p:cNvPr id="27" name="Text 21"/>
          <p:cNvSpPr txBox="1"/>
          <p:nvPr/>
        </p:nvSpPr>
        <p:spPr>
          <a:xfrm>
            <a:off x="722376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 группы</a:t>
            </a:r>
            <a:endParaRPr lang="en-US" sz="1500" dirty="0"/>
          </a:p>
        </p:txBody>
      </p:sp>
      <p:sp>
        <p:nvSpPr>
          <p:cNvPr id="28" name="Досье Кирилл"/>
          <p:cNvSpPr/>
          <p:nvPr/>
        </p:nvSpPr>
        <p:spPr>
          <a:xfrm>
            <a:off x="9281160" y="1783080"/>
            <a:ext cx="1920240" cy="3246120"/>
          </a:xfrm>
          <a:prstGeom prst="roundRect">
            <a:avLst>
              <a:gd name="adj" fmla="val 7143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29" name="Круг иконки"/>
          <p:cNvSpPr/>
          <p:nvPr/>
        </p:nvSpPr>
        <p:spPr>
          <a:xfrm>
            <a:off x="9784080" y="2011680"/>
            <a:ext cx="914400" cy="914400"/>
          </a:xfrm>
          <a:prstGeom prst="ellipse">
            <a:avLst/>
          </a:prstGeom>
          <a:solidFill>
            <a:srgbClr val="7B4FC4"/>
          </a:solidFill>
          <a:ln w="12700">
            <a:solidFill>
              <a:srgbClr val="7B4FC4"/>
            </a:solidFill>
            <a:prstDash val="solid"/>
          </a:ln>
        </p:spPr>
      </p:sp>
      <p:pic>
        <p:nvPicPr>
          <p:cNvPr id="30" name="Image 4" descr="FaUserSecr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3536" y="2231136"/>
            <a:ext cx="475488" cy="47548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372600" y="3108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ДЕЛО №05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9326880" y="3474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B4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Кирилл</a:t>
            </a:r>
            <a:endParaRPr lang="en-US" sz="2800" dirty="0"/>
          </a:p>
        </p:txBody>
      </p:sp>
      <p:sp>
        <p:nvSpPr>
          <p:cNvPr id="33" name="Text 26"/>
          <p:cNvSpPr txBox="1"/>
          <p:nvPr/>
        </p:nvSpPr>
        <p:spPr>
          <a:xfrm>
            <a:off x="932688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 группы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868680" y="53492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«Наши идеи сегодня делают будущее завтра»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1447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868680" y="42976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0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ДЕЛО №1  ·  ЗАЯВЛЕНИЕ КЛИЕНТА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6868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Клиент: парк «Сказка», Крылатское</a:t>
            </a:r>
            <a:endParaRPr lang="en-US" sz="3200" dirty="0"/>
          </a:p>
        </p:txBody>
      </p:sp>
      <p:sp>
        <p:nvSpPr>
          <p:cNvPr id="4" name="Цифра 1"/>
          <p:cNvSpPr/>
          <p:nvPr/>
        </p:nvSpPr>
        <p:spPr>
          <a:xfrm>
            <a:off x="868680" y="1691640"/>
            <a:ext cx="2743200" cy="2880360"/>
          </a:xfrm>
          <a:prstGeom prst="roundRect">
            <a:avLst>
              <a:gd name="adj" fmla="val 5000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5" name="Круг иконки"/>
          <p:cNvSpPr/>
          <p:nvPr/>
        </p:nvSpPr>
        <p:spPr>
          <a:xfrm>
            <a:off x="1143000" y="1920240"/>
            <a:ext cx="640080" cy="640080"/>
          </a:xfrm>
          <a:prstGeom prst="ellipse">
            <a:avLst/>
          </a:prstGeom>
          <a:solidFill>
            <a:srgbClr val="006EB7"/>
          </a:solidFill>
          <a:ln w="12700">
            <a:solidFill>
              <a:srgbClr val="006EB7"/>
            </a:solidFill>
            <a:prstDash val="solid"/>
          </a:ln>
        </p:spPr>
      </p:sp>
      <p:pic>
        <p:nvPicPr>
          <p:cNvPr id="6" name="Image 0" descr="FaMapMarked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6619" y="20738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2743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36118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позиций на сайте: аттракционы, лабиринты и тематические зоны</a:t>
            </a:r>
            <a:endParaRPr lang="en-US" sz="1400" dirty="0"/>
          </a:p>
        </p:txBody>
      </p:sp>
      <p:sp>
        <p:nvSpPr>
          <p:cNvPr id="9" name="Цифра 2"/>
          <p:cNvSpPr/>
          <p:nvPr/>
        </p:nvSpPr>
        <p:spPr>
          <a:xfrm>
            <a:off x="3794760" y="1691640"/>
            <a:ext cx="2743200" cy="2880360"/>
          </a:xfrm>
          <a:prstGeom prst="roundRect">
            <a:avLst>
              <a:gd name="adj" fmla="val 5000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0" name="Круг иконки"/>
          <p:cNvSpPr/>
          <p:nvPr/>
        </p:nvSpPr>
        <p:spPr>
          <a:xfrm>
            <a:off x="4069080" y="1920240"/>
            <a:ext cx="640080" cy="640080"/>
          </a:xfrm>
          <a:prstGeom prst="ellipse">
            <a:avLst/>
          </a:prstGeom>
          <a:solidFill>
            <a:srgbClr val="76B729"/>
          </a:solidFill>
          <a:ln w="12700">
            <a:solidFill>
              <a:srgbClr val="76B729"/>
            </a:solidFill>
            <a:prstDash val="solid"/>
          </a:ln>
        </p:spPr>
      </p:sp>
      <p:pic>
        <p:nvPicPr>
          <p:cNvPr id="11" name="Image 1" descr="FaPa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699" y="207385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69080" y="2743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76B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800" dirty="0"/>
          </a:p>
        </p:txBody>
      </p:sp>
      <p:sp>
        <p:nvSpPr>
          <p:cNvPr id="13" name="Text 9"/>
          <p:cNvSpPr txBox="1"/>
          <p:nvPr/>
        </p:nvSpPr>
        <p:spPr>
          <a:xfrm>
            <a:off x="4069080" y="36118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тематических зон: динозавры, хаски, альпаки, страусы, птицы, еноты</a:t>
            </a:r>
            <a:endParaRPr lang="en-US" sz="1400" dirty="0"/>
          </a:p>
        </p:txBody>
      </p:sp>
      <p:sp>
        <p:nvSpPr>
          <p:cNvPr id="14" name="Цифра 3"/>
          <p:cNvSpPr/>
          <p:nvPr/>
        </p:nvSpPr>
        <p:spPr>
          <a:xfrm>
            <a:off x="6720840" y="1691640"/>
            <a:ext cx="2743200" cy="2880360"/>
          </a:xfrm>
          <a:prstGeom prst="roundRect">
            <a:avLst>
              <a:gd name="adj" fmla="val 5000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5" name="Круг иконки"/>
          <p:cNvSpPr/>
          <p:nvPr/>
        </p:nvSpPr>
        <p:spPr>
          <a:xfrm>
            <a:off x="6995160" y="1920240"/>
            <a:ext cx="640080" cy="640080"/>
          </a:xfrm>
          <a:prstGeom prst="ellipse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pic>
        <p:nvPicPr>
          <p:cNvPr id="16" name="Image 2" descr="FaCoi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779" y="207385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995160" y="2743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39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2 700 ₽</a:t>
            </a:r>
            <a:endParaRPr lang="en-US" sz="4800" dirty="0"/>
          </a:p>
        </p:txBody>
      </p:sp>
      <p:sp>
        <p:nvSpPr>
          <p:cNvPr id="18" name="Text 13"/>
          <p:cNvSpPr txBox="1"/>
          <p:nvPr/>
        </p:nvSpPr>
        <p:spPr>
          <a:xfrm>
            <a:off x="6995160" y="36118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безлимит на день при покупке онлайн (2 900 ₽ на кассе)</a:t>
            </a:r>
            <a:endParaRPr lang="en-US" sz="1400" dirty="0"/>
          </a:p>
        </p:txBody>
      </p:sp>
      <p:pic>
        <p:nvPicPr>
          <p:cNvPr id="19" name="Мальчик WIDE показывает вверх" descr="Мальчик WIDE показывает вверх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2103120"/>
            <a:ext cx="1215444" cy="2606040"/>
          </a:xfrm>
          <a:prstGeom prst="rect">
            <a:avLst/>
          </a:prstGeom>
        </p:spPr>
      </p:pic>
      <p:sp>
        <p:nvSpPr>
          <p:cNvPr id="20" name="Плашка"/>
          <p:cNvSpPr/>
          <p:nvPr/>
        </p:nvSpPr>
        <p:spPr>
          <a:xfrm>
            <a:off x="868680" y="4846320"/>
            <a:ext cx="10424160" cy="1005840"/>
          </a:xfrm>
          <a:prstGeom prst="roundRect">
            <a:avLst>
              <a:gd name="adj" fmla="val 13636"/>
            </a:avLst>
          </a:prstGeom>
          <a:solidFill>
            <a:srgbClr val="EEF5FC"/>
          </a:solidFill>
          <a:ln w="19050">
            <a:solidFill>
              <a:srgbClr val="006EB7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1097280" y="484632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расследования: </a:t>
            </a:r>
            <a:pPr indent="0" marL="0">
              <a:buNone/>
            </a:pPr>
            <a:r>
              <a:rPr lang="en-US" sz="17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сделать визит выгоднее и интереснее, убрать «слепые зоны» для гостей и дать парку данные о том, что людям действительно нравится.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1447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868680" y="42976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0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ВЕЩДОКИ  ·  ЧТО НАШЛО СЛЕДСТВИЕ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6868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улики с места событий</a:t>
            </a:r>
            <a:endParaRPr lang="en-US" sz="3200" dirty="0"/>
          </a:p>
        </p:txBody>
      </p:sp>
      <p:sp>
        <p:nvSpPr>
          <p:cNvPr id="4" name="Улика 1"/>
          <p:cNvSpPr/>
          <p:nvPr/>
        </p:nvSpPr>
        <p:spPr>
          <a:xfrm>
            <a:off x="868680" y="1691640"/>
            <a:ext cx="4389120" cy="1828800"/>
          </a:xfrm>
          <a:prstGeom prst="roundRect">
            <a:avLst>
              <a:gd name="adj" fmla="val 7500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5" name="Круг иконки"/>
          <p:cNvSpPr/>
          <p:nvPr/>
        </p:nvSpPr>
        <p:spPr>
          <a:xfrm>
            <a:off x="1097280" y="1965960"/>
            <a:ext cx="731520" cy="731520"/>
          </a:xfrm>
          <a:prstGeom prst="ellipse">
            <a:avLst/>
          </a:prstGeom>
          <a:solidFill>
            <a:srgbClr val="E4013A"/>
          </a:solidFill>
          <a:ln w="12700">
            <a:solidFill>
              <a:srgbClr val="E4013A"/>
            </a:solidFill>
            <a:prstDash val="solid"/>
          </a:ln>
        </p:spPr>
      </p:sp>
      <p:pic>
        <p:nvPicPr>
          <p:cNvPr id="6" name="Image 0" descr="FaMoneyBillWa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2845" y="21415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11680" y="18928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0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УЛИКА №1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01168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Дорого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2011680" y="26060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Билет, еда и платная парковка — главные минусы в отзывах гостей.</a:t>
            </a:r>
            <a:endParaRPr lang="en-US" sz="1400" dirty="0"/>
          </a:p>
        </p:txBody>
      </p:sp>
      <p:sp>
        <p:nvSpPr>
          <p:cNvPr id="10" name="Улика 2"/>
          <p:cNvSpPr/>
          <p:nvPr/>
        </p:nvSpPr>
        <p:spPr>
          <a:xfrm>
            <a:off x="5440680" y="1691640"/>
            <a:ext cx="4389120" cy="1828800"/>
          </a:xfrm>
          <a:prstGeom prst="roundRect">
            <a:avLst>
              <a:gd name="adj" fmla="val 7500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1" name="Круг иконки"/>
          <p:cNvSpPr/>
          <p:nvPr/>
        </p:nvSpPr>
        <p:spPr>
          <a:xfrm>
            <a:off x="5669280" y="1965960"/>
            <a:ext cx="731520" cy="731520"/>
          </a:xfrm>
          <a:prstGeom prst="ellipse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pic>
        <p:nvPicPr>
          <p:cNvPr id="12" name="Image 1" descr="FaRou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845" y="214152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583680" y="18928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39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УЛИКА №2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Далеко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26060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метро «Крылатское» около 35 минут пешком: про бесплатный автобус надо знать заранее.</a:t>
            </a:r>
            <a:endParaRPr lang="en-US" sz="1400" dirty="0"/>
          </a:p>
        </p:txBody>
      </p:sp>
      <p:sp>
        <p:nvSpPr>
          <p:cNvPr id="16" name="Улика 3"/>
          <p:cNvSpPr/>
          <p:nvPr/>
        </p:nvSpPr>
        <p:spPr>
          <a:xfrm>
            <a:off x="868680" y="3703320"/>
            <a:ext cx="4389120" cy="1828800"/>
          </a:xfrm>
          <a:prstGeom prst="roundRect">
            <a:avLst>
              <a:gd name="adj" fmla="val 7500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7" name="Круг иконки"/>
          <p:cNvSpPr/>
          <p:nvPr/>
        </p:nvSpPr>
        <p:spPr>
          <a:xfrm>
            <a:off x="1097280" y="3977640"/>
            <a:ext cx="731520" cy="731520"/>
          </a:xfrm>
          <a:prstGeom prst="ellipse">
            <a:avLst/>
          </a:prstGeom>
          <a:solidFill>
            <a:srgbClr val="7B4FC4"/>
          </a:solidFill>
          <a:ln w="12700">
            <a:solidFill>
              <a:srgbClr val="7B4FC4"/>
            </a:solidFill>
            <a:prstDash val="solid"/>
          </a:ln>
        </p:spPr>
      </p:sp>
      <p:pic>
        <p:nvPicPr>
          <p:cNvPr id="18" name="Image 2" descr="FaWalk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845" y="415320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011680" y="3904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B4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УЛИКА №3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2011680" y="4160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повода вернуться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2011680" y="46177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Гости пишут, что второй раз вряд ли поедут: «разовое удовольствие».</a:t>
            </a:r>
            <a:endParaRPr lang="en-US" sz="1400" dirty="0"/>
          </a:p>
        </p:txBody>
      </p:sp>
      <p:sp>
        <p:nvSpPr>
          <p:cNvPr id="22" name="Улика 4"/>
          <p:cNvSpPr/>
          <p:nvPr/>
        </p:nvSpPr>
        <p:spPr>
          <a:xfrm>
            <a:off x="5440680" y="3703320"/>
            <a:ext cx="4389120" cy="1828800"/>
          </a:xfrm>
          <a:prstGeom prst="roundRect">
            <a:avLst>
              <a:gd name="adj" fmla="val 7500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23" name="Круг иконки"/>
          <p:cNvSpPr/>
          <p:nvPr/>
        </p:nvSpPr>
        <p:spPr>
          <a:xfrm>
            <a:off x="5669280" y="3977640"/>
            <a:ext cx="731520" cy="731520"/>
          </a:xfrm>
          <a:prstGeom prst="ellipse">
            <a:avLst/>
          </a:prstGeom>
          <a:solidFill>
            <a:srgbClr val="006EB7"/>
          </a:solidFill>
          <a:ln w="12700">
            <a:solidFill>
              <a:srgbClr val="006EB7"/>
            </a:solidFill>
            <a:prstDash val="solid"/>
          </a:ln>
        </p:spPr>
      </p:sp>
      <p:pic>
        <p:nvPicPr>
          <p:cNvPr id="24" name="Image 3" descr="FaQues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4845" y="4153205"/>
            <a:ext cx="380390" cy="38039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583680" y="3904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6E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УЛИКА №4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6583680" y="4160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Тёмные пятна на сайте</a:t>
            </a:r>
            <a:endParaRPr lang="en-US" sz="2000" dirty="0"/>
          </a:p>
        </p:txBody>
      </p:sp>
      <p:sp>
        <p:nvSpPr>
          <p:cNvPr id="27" name="Text 21"/>
          <p:cNvSpPr txBox="1"/>
          <p:nvPr/>
        </p:nvSpPr>
        <p:spPr>
          <a:xfrm>
            <a:off x="6583680" y="46177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видно, какой аттракцион не работает и почему; неочевидно, кому что подходит по росту.</a:t>
            </a:r>
            <a:endParaRPr lang="en-US" sz="1400" dirty="0"/>
          </a:p>
        </p:txBody>
      </p:sp>
      <p:pic>
        <p:nvPicPr>
          <p:cNvPr id="28" name="Мальчик WIDE думает" descr="Мальчик WIDE думает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0" y="2194560"/>
            <a:ext cx="1617904" cy="329184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68680" y="5806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отзывы на Otzovik, обзоры KudaGo и Т—Ж, разбор сайта parkskazka.com.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1447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868680" y="42976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0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ВЕРСИЯ СЛЕДСТВИЯ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6868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Превратить визит в игру</a:t>
            </a:r>
            <a:endParaRPr lang="en-US" sz="3200" dirty="0"/>
          </a:p>
        </p:txBody>
      </p:sp>
      <p:sp>
        <p:nvSpPr>
          <p:cNvPr id="4" name="Корпус телефона"/>
          <p:cNvSpPr/>
          <p:nvPr/>
        </p:nvSpPr>
        <p:spPr>
          <a:xfrm>
            <a:off x="868680" y="1554480"/>
            <a:ext cx="2141175" cy="4389120"/>
          </a:xfrm>
          <a:prstGeom prst="roundRect">
            <a:avLst>
              <a:gd name="adj" fmla="val 9395"/>
            </a:avLst>
          </a:prstGeom>
          <a:solidFill>
            <a:srgbClr val="10121C"/>
          </a:solidFill>
          <a:ln w="25400">
            <a:solidFill>
              <a:srgbClr val="3A3F52"/>
            </a:solidFill>
            <a:prstDash val="solid"/>
          </a:ln>
          <a:effectLst>
            <a:outerShdw sx="100000" sy="100000" kx="0" ky="0" algn="bl" rotWithShape="0" blurRad="152400" dist="38100" dir="5400000">
              <a:srgbClr val="1F4E79">
                <a:alpha val="18000"/>
              </a:srgbClr>
            </a:outerShdw>
          </a:effectLst>
        </p:spPr>
      </p:sp>
      <p:pic>
        <p:nvPicPr>
          <p:cNvPr id="5" name="Экран: Главный экран: погода по часам, Кот Баюн" descr="Главный экран: погода по часам, Кот Баю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655064"/>
            <a:ext cx="1940007" cy="4187952"/>
          </a:xfrm>
          <a:prstGeom prst="rect">
            <a:avLst/>
          </a:prstGeom>
        </p:spPr>
      </p:pic>
      <p:sp>
        <p:nvSpPr>
          <p:cNvPr id="6" name="Бейдж 1"/>
          <p:cNvSpPr/>
          <p:nvPr/>
        </p:nvSpPr>
        <p:spPr>
          <a:xfrm>
            <a:off x="3611880" y="1691640"/>
            <a:ext cx="566928" cy="566928"/>
          </a:xfrm>
          <a:prstGeom prst="ellipse">
            <a:avLst/>
          </a:prstGeom>
          <a:solidFill>
            <a:srgbClr val="006EB7"/>
          </a:solidFill>
          <a:ln w="12700">
            <a:solidFill>
              <a:srgbClr val="006EB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1188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4389120" y="16002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идти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Настоящий прогноз погоды по часам и оценка загрузки: в тихие часы монет больше.</a:t>
            </a:r>
            <a:endParaRPr lang="en-US" sz="2000" dirty="0"/>
          </a:p>
        </p:txBody>
      </p:sp>
      <p:sp>
        <p:nvSpPr>
          <p:cNvPr id="9" name="Бейдж 2"/>
          <p:cNvSpPr/>
          <p:nvPr/>
        </p:nvSpPr>
        <p:spPr>
          <a:xfrm>
            <a:off x="3611880" y="2770632"/>
            <a:ext cx="566928" cy="566928"/>
          </a:xfrm>
          <a:prstGeom prst="ellipse">
            <a:avLst/>
          </a:prstGeom>
          <a:solidFill>
            <a:srgbClr val="E4013A"/>
          </a:solidFill>
          <a:ln w="12700">
            <a:solidFill>
              <a:srgbClr val="E401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11880" y="2770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4389120" y="267919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 Баюн — проводник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Подсказывает, где тише и что работает. Завтра станет ИИ-агентом.</a:t>
            </a:r>
            <a:endParaRPr lang="en-US" sz="2000" dirty="0"/>
          </a:p>
        </p:txBody>
      </p:sp>
      <p:sp>
        <p:nvSpPr>
          <p:cNvPr id="12" name="Бейдж 3"/>
          <p:cNvSpPr/>
          <p:nvPr/>
        </p:nvSpPr>
        <p:spPr>
          <a:xfrm>
            <a:off x="3611880" y="3849624"/>
            <a:ext cx="566928" cy="566928"/>
          </a:xfrm>
          <a:prstGeom prst="ellipse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11880" y="38496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4389120" y="3758184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со статусами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Видно, что работает, что на ремонте — и почему.</a:t>
            </a:r>
            <a:endParaRPr lang="en-US" sz="2000" dirty="0"/>
          </a:p>
        </p:txBody>
      </p:sp>
      <p:sp>
        <p:nvSpPr>
          <p:cNvPr id="15" name="Бейдж 4"/>
          <p:cNvSpPr/>
          <p:nvPr/>
        </p:nvSpPr>
        <p:spPr>
          <a:xfrm>
            <a:off x="3611880" y="4928616"/>
            <a:ext cx="566928" cy="566928"/>
          </a:xfrm>
          <a:prstGeom prst="ellipse">
            <a:avLst/>
          </a:prstGeom>
          <a:solidFill>
            <a:srgbClr val="76B729"/>
          </a:solidFill>
          <a:ln w="12700">
            <a:solidFill>
              <a:srgbClr val="76B72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11880" y="4928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4389120" y="4837176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Квест, монеты, рейтинг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Баллы за задания, «Починить!» и конструктор новых аттракционов.</a:t>
            </a:r>
            <a:endParaRPr lang="en-US" sz="2000" dirty="0"/>
          </a:p>
        </p:txBody>
      </p:sp>
      <p:pic>
        <p:nvPicPr>
          <p:cNvPr id="18" name="Учитель WIDE показывает вверх" descr="Учитель WIDE показывает вверх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514600"/>
            <a:ext cx="1602074" cy="3429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1447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868680" y="42976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0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ГЛАВНАЯ УЛИКА  ·  СТАТУС И ПРИЧИНА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6868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Узнать причину до того, как пришёл</a:t>
            </a:r>
            <a:endParaRPr lang="en-US" sz="3200" dirty="0"/>
          </a:p>
        </p:txBody>
      </p:sp>
      <p:sp>
        <p:nvSpPr>
          <p:cNvPr id="4" name="Корпус телефона"/>
          <p:cNvSpPr/>
          <p:nvPr/>
        </p:nvSpPr>
        <p:spPr>
          <a:xfrm>
            <a:off x="868680" y="1554480"/>
            <a:ext cx="2141175" cy="4389120"/>
          </a:xfrm>
          <a:prstGeom prst="roundRect">
            <a:avLst>
              <a:gd name="adj" fmla="val 9395"/>
            </a:avLst>
          </a:prstGeom>
          <a:solidFill>
            <a:srgbClr val="10121C"/>
          </a:solidFill>
          <a:ln w="25400">
            <a:solidFill>
              <a:srgbClr val="3A3F52"/>
            </a:solidFill>
            <a:prstDash val="solid"/>
          </a:ln>
          <a:effectLst>
            <a:outerShdw sx="100000" sy="100000" kx="0" ky="0" algn="bl" rotWithShape="0" blurRad="152400" dist="38100" dir="5400000">
              <a:srgbClr val="1F4E79">
                <a:alpha val="18000"/>
              </a:srgbClr>
            </a:outerShdw>
          </a:effectLst>
        </p:spPr>
      </p:sp>
      <p:pic>
        <p:nvPicPr>
          <p:cNvPr id="5" name="Экран: Игровая карта парка со статусами" descr="Игровая карта парка со статусам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655064"/>
            <a:ext cx="1940007" cy="4187952"/>
          </a:xfrm>
          <a:prstGeom prst="rect">
            <a:avLst/>
          </a:prstGeom>
        </p:spPr>
      </p:pic>
      <p:sp>
        <p:nvSpPr>
          <p:cNvPr id="6" name="Корпус телефона"/>
          <p:cNvSpPr/>
          <p:nvPr/>
        </p:nvSpPr>
        <p:spPr>
          <a:xfrm>
            <a:off x="3238455" y="1554480"/>
            <a:ext cx="2141175" cy="4389120"/>
          </a:xfrm>
          <a:prstGeom prst="roundRect">
            <a:avLst>
              <a:gd name="adj" fmla="val 9395"/>
            </a:avLst>
          </a:prstGeom>
          <a:solidFill>
            <a:srgbClr val="10121C"/>
          </a:solidFill>
          <a:ln w="25400">
            <a:solidFill>
              <a:srgbClr val="3A3F52"/>
            </a:solidFill>
            <a:prstDash val="solid"/>
          </a:ln>
          <a:effectLst>
            <a:outerShdw sx="100000" sy="100000" kx="0" ky="0" algn="bl" rotWithShape="0" blurRad="152400" dist="38100" dir="5400000">
              <a:srgbClr val="1F4E79">
                <a:alpha val="18000"/>
              </a:srgbClr>
            </a:outerShdw>
          </a:effectLst>
        </p:spPr>
      </p:sp>
      <p:pic>
        <p:nvPicPr>
          <p:cNvPr id="7" name="Экран: Карточка аттракциона на ремонте: причина и срок" descr="Карточка аттракциона на ремонте: причина и срок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039" y="1655064"/>
            <a:ext cx="1940007" cy="4187952"/>
          </a:xfrm>
          <a:prstGeom prst="rect">
            <a:avLst/>
          </a:prstGeom>
        </p:spPr>
      </p:pic>
      <p:sp>
        <p:nvSpPr>
          <p:cNvPr id="8" name="Бейдж 1"/>
          <p:cNvSpPr/>
          <p:nvPr/>
        </p:nvSpPr>
        <p:spPr>
          <a:xfrm>
            <a:off x="6355080" y="1737360"/>
            <a:ext cx="566928" cy="566928"/>
          </a:xfrm>
          <a:prstGeom prst="ellipse">
            <a:avLst/>
          </a:prstGeom>
          <a:solidFill>
            <a:srgbClr val="76B729"/>
          </a:solidFill>
          <a:ln w="12700">
            <a:solidFill>
              <a:srgbClr val="76B72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35508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7132320" y="16002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Светофор на карте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Зелёный — работает, жёлтый — ветер или гроза, красный — ремонт.</a:t>
            </a:r>
            <a:endParaRPr lang="en-US" sz="1900" dirty="0"/>
          </a:p>
        </p:txBody>
      </p:sp>
      <p:sp>
        <p:nvSpPr>
          <p:cNvPr id="11" name="Бейдж 2"/>
          <p:cNvSpPr/>
          <p:nvPr/>
        </p:nvSpPr>
        <p:spPr>
          <a:xfrm>
            <a:off x="6355080" y="2926080"/>
            <a:ext cx="566928" cy="566928"/>
          </a:xfrm>
          <a:prstGeom prst="ellipse">
            <a:avLst/>
          </a:prstGeom>
          <a:solidFill>
            <a:srgbClr val="E4013A"/>
          </a:solidFill>
          <a:ln w="12700">
            <a:solidFill>
              <a:srgbClr val="E4013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35508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132320" y="27889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 и срок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«Замена гидроцилиндра, вернётся 28 октября» — прямо на карточке.</a:t>
            </a:r>
            <a:endParaRPr lang="en-US" sz="1900" dirty="0"/>
          </a:p>
        </p:txBody>
      </p:sp>
      <p:sp>
        <p:nvSpPr>
          <p:cNvPr id="14" name="Бейдж 3"/>
          <p:cNvSpPr/>
          <p:nvPr/>
        </p:nvSpPr>
        <p:spPr>
          <a:xfrm>
            <a:off x="6355080" y="4114800"/>
            <a:ext cx="566928" cy="566928"/>
          </a:xfrm>
          <a:prstGeom prst="ellipse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355080" y="4114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7132320" y="397764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Сообщить, когда заработает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 на аттракцион: гость придёт, когда он уже в строю.</a:t>
            </a:r>
            <a:endParaRPr lang="en-US" sz="1900" dirty="0"/>
          </a:p>
        </p:txBody>
      </p:sp>
      <p:sp>
        <p:nvSpPr>
          <p:cNvPr id="17" name="Плашка"/>
          <p:cNvSpPr/>
          <p:nvPr/>
        </p:nvSpPr>
        <p:spPr>
          <a:xfrm>
            <a:off x="6355080" y="5212080"/>
            <a:ext cx="4983480" cy="731520"/>
          </a:xfrm>
          <a:prstGeom prst="roundRect">
            <a:avLst>
              <a:gd name="adj" fmla="val 18750"/>
            </a:avLst>
          </a:prstGeom>
          <a:solidFill>
            <a:srgbClr val="FFF4E0"/>
          </a:solidFill>
          <a:ln w="19050">
            <a:solidFill>
              <a:srgbClr val="F3920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583680" y="521208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Ветер и гроза считаются по настоящему прогнозу. Ремонты в демо смоделированы — в боевой версии их вводит оператор парка.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1447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868680" y="42976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0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ХОД РАССЛЕДОВАНИЯ  ·  КВЕСТ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6868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Сюжетный квест с баллами</a:t>
            </a:r>
            <a:endParaRPr lang="en-US" sz="3200" dirty="0"/>
          </a:p>
        </p:txBody>
      </p:sp>
      <p:sp>
        <p:nvSpPr>
          <p:cNvPr id="4" name="Корпус телефона"/>
          <p:cNvSpPr/>
          <p:nvPr/>
        </p:nvSpPr>
        <p:spPr>
          <a:xfrm>
            <a:off x="868680" y="1554480"/>
            <a:ext cx="2141175" cy="4389120"/>
          </a:xfrm>
          <a:prstGeom prst="roundRect">
            <a:avLst>
              <a:gd name="adj" fmla="val 9395"/>
            </a:avLst>
          </a:prstGeom>
          <a:solidFill>
            <a:srgbClr val="10121C"/>
          </a:solidFill>
          <a:ln w="25400">
            <a:solidFill>
              <a:srgbClr val="3A3F52"/>
            </a:solidFill>
            <a:prstDash val="solid"/>
          </a:ln>
          <a:effectLst>
            <a:outerShdw sx="100000" sy="100000" kx="0" ky="0" algn="bl" rotWithShape="0" blurRad="152400" dist="38100" dir="5400000">
              <a:srgbClr val="1F4E79">
                <a:alpha val="18000"/>
              </a:srgbClr>
            </a:outerShdw>
          </a:effectLst>
        </p:spPr>
      </p:sp>
      <p:pic>
        <p:nvPicPr>
          <p:cNvPr id="5" name="Экран: Экран квеста: уровень, монеты, главы" descr="Экран квеста: уровень, монеты, глав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655064"/>
            <a:ext cx="1940007" cy="4187952"/>
          </a:xfrm>
          <a:prstGeom prst="rect">
            <a:avLst/>
          </a:prstGeom>
        </p:spPr>
      </p:pic>
      <p:sp>
        <p:nvSpPr>
          <p:cNvPr id="6" name="Факт квеста 1"/>
          <p:cNvSpPr/>
          <p:nvPr/>
        </p:nvSpPr>
        <p:spPr>
          <a:xfrm>
            <a:off x="3611880" y="1600200"/>
            <a:ext cx="6035040" cy="1051560"/>
          </a:xfrm>
          <a:prstGeom prst="roundRect">
            <a:avLst>
              <a:gd name="adj" fmla="val 13043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749040" y="164592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5349240" y="164592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 и финал «Хранитель Сказки»: дино-экспедиция, друзья Кота, вихрь и молния, тайны Бабы Яги…</a:t>
            </a:r>
            <a:endParaRPr lang="en-US" sz="1400" dirty="0"/>
          </a:p>
        </p:txBody>
      </p:sp>
      <p:sp>
        <p:nvSpPr>
          <p:cNvPr id="9" name="Факт квеста 2"/>
          <p:cNvSpPr/>
          <p:nvPr/>
        </p:nvSpPr>
        <p:spPr>
          <a:xfrm>
            <a:off x="3611880" y="2788920"/>
            <a:ext cx="6035040" cy="1051560"/>
          </a:xfrm>
          <a:prstGeom prst="roundRect">
            <a:avLst>
              <a:gd name="adj" fmla="val 13043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49040" y="283464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6B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5349240" y="283464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вида заданий: дома (викторины) и в парке (отметка по геолокации, мини-игра)</a:t>
            </a:r>
            <a:endParaRPr lang="en-US" sz="1400" dirty="0"/>
          </a:p>
        </p:txBody>
      </p:sp>
      <p:sp>
        <p:nvSpPr>
          <p:cNvPr id="12" name="Факт квеста 3"/>
          <p:cNvSpPr/>
          <p:nvPr/>
        </p:nvSpPr>
        <p:spPr>
          <a:xfrm>
            <a:off x="3611880" y="3977640"/>
            <a:ext cx="6035040" cy="1051560"/>
          </a:xfrm>
          <a:prstGeom prst="roundRect">
            <a:avLst>
              <a:gd name="adj" fmla="val 13043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49040" y="402336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39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×3</a:t>
            </a:r>
            <a:endParaRPr lang="en-US" sz="4400" dirty="0"/>
          </a:p>
        </p:txBody>
      </p:sp>
      <p:sp>
        <p:nvSpPr>
          <p:cNvPr id="14" name="Text 11"/>
          <p:cNvSpPr txBox="1"/>
          <p:nvPr/>
        </p:nvSpPr>
        <p:spPr>
          <a:xfrm>
            <a:off x="5349240" y="4023360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монет за визит в «тихий» час — антиочередь работает как награда</a:t>
            </a:r>
            <a:endParaRPr lang="en-US" sz="1400" dirty="0"/>
          </a:p>
        </p:txBody>
      </p:sp>
      <p:sp>
        <p:nvSpPr>
          <p:cNvPr id="15" name="Плашка"/>
          <p:cNvSpPr/>
          <p:nvPr/>
        </p:nvSpPr>
        <p:spPr>
          <a:xfrm>
            <a:off x="3611880" y="5257800"/>
            <a:ext cx="6035040" cy="685800"/>
          </a:xfrm>
          <a:prstGeom prst="roundRect">
            <a:avLst>
              <a:gd name="adj" fmla="val 20000"/>
            </a:avLst>
          </a:prstGeom>
          <a:solidFill>
            <a:srgbClr val="EEF5FC"/>
          </a:solidFill>
          <a:ln w="19050">
            <a:solidFill>
              <a:srgbClr val="006EB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840480" y="525780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нужный аттракцион на ремонте, задание автоматически заменяется другим — квест не ломается.</a:t>
            </a:r>
            <a:endParaRPr lang="en-US" sz="1400" dirty="0"/>
          </a:p>
        </p:txBody>
      </p:sp>
      <p:pic>
        <p:nvPicPr>
          <p:cNvPr id="17" name="Девочка WIDE: палец вверх" descr="Девочка WIDE: палец вверх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651760"/>
            <a:ext cx="1339552" cy="3108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1447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868680" y="42976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0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УЛИКИ СОБИРАЮТ САМИ ГОСТИ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6868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любят и что просят починить</a:t>
            </a:r>
            <a:endParaRPr lang="en-US" sz="3200" dirty="0"/>
          </a:p>
        </p:txBody>
      </p:sp>
      <p:sp>
        <p:nvSpPr>
          <p:cNvPr id="4" name="Корпус телефона"/>
          <p:cNvSpPr/>
          <p:nvPr/>
        </p:nvSpPr>
        <p:spPr>
          <a:xfrm>
            <a:off x="868680" y="1554480"/>
            <a:ext cx="2141175" cy="4389120"/>
          </a:xfrm>
          <a:prstGeom prst="roundRect">
            <a:avLst>
              <a:gd name="adj" fmla="val 9395"/>
            </a:avLst>
          </a:prstGeom>
          <a:solidFill>
            <a:srgbClr val="10121C"/>
          </a:solidFill>
          <a:ln w="25400">
            <a:solidFill>
              <a:srgbClr val="3A3F52"/>
            </a:solidFill>
            <a:prstDash val="solid"/>
          </a:ln>
          <a:effectLst>
            <a:outerShdw sx="100000" sy="100000" kx="0" ky="0" algn="bl" rotWithShape="0" blurRad="152400" dist="38100" dir="5400000">
              <a:srgbClr val="1F4E79">
                <a:alpha val="18000"/>
              </a:srgbClr>
            </a:outerShdw>
          </a:effectLst>
        </p:spPr>
      </p:sp>
      <p:pic>
        <p:nvPicPr>
          <p:cNvPr id="5" name="Экран: Голосование «Починить!»" descr="Голосование «Починить!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655064"/>
            <a:ext cx="1940007" cy="4187952"/>
          </a:xfrm>
          <a:prstGeom prst="rect">
            <a:avLst/>
          </a:prstGeom>
        </p:spPr>
      </p:pic>
      <p:sp>
        <p:nvSpPr>
          <p:cNvPr id="6" name="Корпус телефона"/>
          <p:cNvSpPr/>
          <p:nvPr/>
        </p:nvSpPr>
        <p:spPr>
          <a:xfrm>
            <a:off x="3238455" y="1554480"/>
            <a:ext cx="2141175" cy="4389120"/>
          </a:xfrm>
          <a:prstGeom prst="roundRect">
            <a:avLst>
              <a:gd name="adj" fmla="val 9395"/>
            </a:avLst>
          </a:prstGeom>
          <a:solidFill>
            <a:srgbClr val="10121C"/>
          </a:solidFill>
          <a:ln w="25400">
            <a:solidFill>
              <a:srgbClr val="3A3F52"/>
            </a:solidFill>
            <a:prstDash val="solid"/>
          </a:ln>
          <a:effectLst>
            <a:outerShdw sx="100000" sy="100000" kx="0" ky="0" algn="bl" rotWithShape="0" blurRad="152400" dist="38100" dir="5400000">
              <a:srgbClr val="1F4E79">
                <a:alpha val="18000"/>
              </a:srgbClr>
            </a:outerShdw>
          </a:effectLst>
        </p:spPr>
      </p:sp>
      <p:pic>
        <p:nvPicPr>
          <p:cNvPr id="7" name="Экран: Каталог со статусами «Ремонт»" descr="Каталог со статусами «Ремонт»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039" y="1655064"/>
            <a:ext cx="1940007" cy="4187952"/>
          </a:xfrm>
          <a:prstGeom prst="rect">
            <a:avLst/>
          </a:prstGeom>
        </p:spPr>
      </p:pic>
      <p:sp>
        <p:nvSpPr>
          <p:cNvPr id="8" name="Бейдж 1"/>
          <p:cNvSpPr/>
          <p:nvPr/>
        </p:nvSpPr>
        <p:spPr>
          <a:xfrm>
            <a:off x="6355080" y="1783080"/>
            <a:ext cx="566928" cy="566928"/>
          </a:xfrm>
          <a:prstGeom prst="ellipse">
            <a:avLst/>
          </a:prstGeom>
          <a:solidFill>
            <a:srgbClr val="E4013A"/>
          </a:solidFill>
          <a:ln w="12700">
            <a:solidFill>
              <a:srgbClr val="E4013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35508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7132320" y="16002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больше играют — там больше любят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 складывается из мини-игр, сердечек и отметок. Парк видит реальный интерес.</a:t>
            </a:r>
            <a:endParaRPr lang="en-US" sz="1800" dirty="0"/>
          </a:p>
        </p:txBody>
      </p:sp>
      <p:sp>
        <p:nvSpPr>
          <p:cNvPr id="11" name="Бейдж 2"/>
          <p:cNvSpPr/>
          <p:nvPr/>
        </p:nvSpPr>
        <p:spPr>
          <a:xfrm>
            <a:off x="6355080" y="3154680"/>
            <a:ext cx="566928" cy="566928"/>
          </a:xfrm>
          <a:prstGeom prst="ellipse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355080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132320" y="29718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«Починить!»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Аттракцион на ремонте собирает голоса (цель — 150). Заявка уходит оператору.</a:t>
            </a:r>
            <a:endParaRPr lang="en-US" sz="1800" dirty="0"/>
          </a:p>
        </p:txBody>
      </p:sp>
      <p:sp>
        <p:nvSpPr>
          <p:cNvPr id="14" name="Бейдж 3"/>
          <p:cNvSpPr/>
          <p:nvPr/>
        </p:nvSpPr>
        <p:spPr>
          <a:xfrm>
            <a:off x="6355080" y="4526280"/>
            <a:ext cx="566928" cy="566928"/>
          </a:xfrm>
          <a:prstGeom prst="ellipse">
            <a:avLst/>
          </a:prstGeom>
          <a:solidFill>
            <a:srgbClr val="76B729"/>
          </a:solidFill>
          <a:ln w="12700">
            <a:solidFill>
              <a:srgbClr val="76B729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355080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7132320" y="43434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 как опрос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Гость играет — парк получает данные, а не анкету.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1447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868680" y="42976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0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СЛЕДСТВЕННЫЙ ЭКСПЕРИМЕНТ  ·  СТРОЙКА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6868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Гости придумывают аттракционы</a:t>
            </a:r>
            <a:endParaRPr lang="en-US" sz="3200" dirty="0"/>
          </a:p>
        </p:txBody>
      </p:sp>
      <p:sp>
        <p:nvSpPr>
          <p:cNvPr id="4" name="Корпус телефона"/>
          <p:cNvSpPr/>
          <p:nvPr/>
        </p:nvSpPr>
        <p:spPr>
          <a:xfrm>
            <a:off x="868680" y="1554480"/>
            <a:ext cx="2141175" cy="4389120"/>
          </a:xfrm>
          <a:prstGeom prst="roundRect">
            <a:avLst>
              <a:gd name="adj" fmla="val 9395"/>
            </a:avLst>
          </a:prstGeom>
          <a:solidFill>
            <a:srgbClr val="10121C"/>
          </a:solidFill>
          <a:ln w="25400">
            <a:solidFill>
              <a:srgbClr val="3A3F52"/>
            </a:solidFill>
            <a:prstDash val="solid"/>
          </a:ln>
          <a:effectLst>
            <a:outerShdw sx="100000" sy="100000" kx="0" ky="0" algn="bl" rotWithShape="0" blurRad="152400" dist="38100" dir="5400000">
              <a:srgbClr val="1F4E79">
                <a:alpha val="18000"/>
              </a:srgbClr>
            </a:outerShdw>
          </a:effectLst>
        </p:spPr>
      </p:sp>
      <p:pic>
        <p:nvPicPr>
          <p:cNvPr id="5" name="Экран: Конструктор аттракционов с моделью" descr="Конструктор аттракционов с моделью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655064"/>
            <a:ext cx="1940007" cy="4187952"/>
          </a:xfrm>
          <a:prstGeom prst="rect">
            <a:avLst/>
          </a:prstGeom>
        </p:spPr>
      </p:pic>
      <p:sp>
        <p:nvSpPr>
          <p:cNvPr id="6" name="Бейдж 1"/>
          <p:cNvSpPr/>
          <p:nvPr/>
        </p:nvSpPr>
        <p:spPr>
          <a:xfrm>
            <a:off x="3611880" y="1828800"/>
            <a:ext cx="566928" cy="566928"/>
          </a:xfrm>
          <a:prstGeom prst="ellipse">
            <a:avLst/>
          </a:prstGeom>
          <a:solidFill>
            <a:srgbClr val="006EB7"/>
          </a:solidFill>
          <a:ln w="12700">
            <a:solidFill>
              <a:srgbClr val="006EB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6118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4389120" y="16459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Собери из деталей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типов (горки, колесо, башня, карусель, корабль, дом) × 6 тем × «мёртвая петля», туман, подсветка и другое.</a:t>
            </a:r>
            <a:endParaRPr lang="en-US" sz="2000" dirty="0"/>
          </a:p>
        </p:txBody>
      </p:sp>
      <p:sp>
        <p:nvSpPr>
          <p:cNvPr id="9" name="Бейдж 2"/>
          <p:cNvSpPr/>
          <p:nvPr/>
        </p:nvSpPr>
        <p:spPr>
          <a:xfrm>
            <a:off x="3611880" y="3200400"/>
            <a:ext cx="566928" cy="566928"/>
          </a:xfrm>
          <a:prstGeom prst="ellipse">
            <a:avLst/>
          </a:prstGeom>
          <a:solidFill>
            <a:srgbClr val="E4013A"/>
          </a:solidFill>
          <a:ln w="12700">
            <a:solidFill>
              <a:srgbClr val="E401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11880" y="3200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4389120" y="30175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 интереса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по рейтингу похожих аттракционов в игре — ориентир, а не инженерный расчёт.</a:t>
            </a:r>
            <a:endParaRPr lang="en-US" sz="2000" dirty="0"/>
          </a:p>
        </p:txBody>
      </p:sp>
      <p:sp>
        <p:nvSpPr>
          <p:cNvPr id="12" name="Бейдж 3"/>
          <p:cNvSpPr/>
          <p:nvPr/>
        </p:nvSpPr>
        <p:spPr>
          <a:xfrm>
            <a:off x="3611880" y="4572000"/>
            <a:ext cx="566928" cy="566928"/>
          </a:xfrm>
          <a:prstGeom prst="ellipse">
            <a:avLst/>
          </a:prstGeom>
          <a:solidFill>
            <a:srgbClr val="76B729"/>
          </a:solidFill>
          <a:ln w="12700">
            <a:solidFill>
              <a:srgbClr val="76B72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11880" y="4572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4389120" y="43891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«Хотим построить»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 получают голоса. Лучшие попадают в рейтинг, который видит парк.</a:t>
            </a:r>
            <a:endParaRPr lang="en-US" sz="2000" dirty="0"/>
          </a:p>
        </p:txBody>
      </p:sp>
      <p:pic>
        <p:nvPicPr>
          <p:cNvPr id="15" name="Мальчик WIDE: большой палец" descr="Мальчик WIDE: большой палец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3108960"/>
            <a:ext cx="1355697" cy="3017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1447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868680" y="42976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0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ВЕЩЕСТВЕННОЕ ДОКАЗАТЕЛЬСТВО  ·  ОЧЕРЕДИ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6868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Пик субботы почти втрое выше среды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68680" y="1554480"/>
          <a:ext cx="69494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Вывод по очередям"/>
          <p:cNvSpPr/>
          <p:nvPr/>
        </p:nvSpPr>
        <p:spPr>
          <a:xfrm>
            <a:off x="8092440" y="1554480"/>
            <a:ext cx="3200400" cy="4389120"/>
          </a:xfrm>
          <a:prstGeom prst="roundRect">
            <a:avLst>
              <a:gd name="adj" fmla="val 4286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2104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0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ЭТО ДАЁТ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2103120"/>
            <a:ext cx="2743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Пик в 15:00 — 100% против 33%.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тихие часы гостю выгодно прийти: монеты ×3. Парк получает разгрузку пиков.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оценочная: день недели, время, погода, праздники и ваши отметки. Данные турникетов парка сделают её точной.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1447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868680" y="42976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0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ВЫГОДА ДЛЯ ЗАКАЗЧИКА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6868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получает парк</a:t>
            </a:r>
            <a:endParaRPr lang="en-US" sz="3200" dirty="0"/>
          </a:p>
        </p:txBody>
      </p:sp>
      <p:sp>
        <p:nvSpPr>
          <p:cNvPr id="4" name="Выгода 1"/>
          <p:cNvSpPr/>
          <p:nvPr/>
        </p:nvSpPr>
        <p:spPr>
          <a:xfrm>
            <a:off x="868680" y="1645920"/>
            <a:ext cx="3337560" cy="2011680"/>
          </a:xfrm>
          <a:prstGeom prst="roundRect">
            <a:avLst>
              <a:gd name="adj" fmla="val 6818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5" name="Круг иконки"/>
          <p:cNvSpPr/>
          <p:nvPr/>
        </p:nvSpPr>
        <p:spPr>
          <a:xfrm>
            <a:off x="1097280" y="1874520"/>
            <a:ext cx="640080" cy="640080"/>
          </a:xfrm>
          <a:prstGeom prst="ellipse">
            <a:avLst/>
          </a:prstGeom>
          <a:solidFill>
            <a:srgbClr val="006EB7"/>
          </a:solidFill>
          <a:ln w="12700">
            <a:solidFill>
              <a:srgbClr val="006EB7"/>
            </a:solidFill>
            <a:prstDash val="solid"/>
          </a:ln>
        </p:spPr>
      </p:sp>
      <p:pic>
        <p:nvPicPr>
          <p:cNvPr id="6" name="Image 0" descr="FaToo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089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74520" y="1874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 на ремонт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651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Видно, какой аттракцион ждут больше всего и сколько голосов за него.</a:t>
            </a:r>
            <a:endParaRPr lang="en-US" sz="1400" dirty="0"/>
          </a:p>
        </p:txBody>
      </p:sp>
      <p:sp>
        <p:nvSpPr>
          <p:cNvPr id="9" name="Выгода 2"/>
          <p:cNvSpPr/>
          <p:nvPr/>
        </p:nvSpPr>
        <p:spPr>
          <a:xfrm>
            <a:off x="4389120" y="1645920"/>
            <a:ext cx="3337560" cy="2011680"/>
          </a:xfrm>
          <a:prstGeom prst="roundRect">
            <a:avLst>
              <a:gd name="adj" fmla="val 6818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0" name="Круг иконки"/>
          <p:cNvSpPr/>
          <p:nvPr/>
        </p:nvSpPr>
        <p:spPr>
          <a:xfrm>
            <a:off x="4617720" y="1874520"/>
            <a:ext cx="640080" cy="640080"/>
          </a:xfrm>
          <a:prstGeom prst="ellipse">
            <a:avLst/>
          </a:prstGeom>
          <a:solidFill>
            <a:srgbClr val="E4013A"/>
          </a:solidFill>
          <a:ln w="12700">
            <a:solidFill>
              <a:srgbClr val="E4013A"/>
            </a:solidFill>
            <a:prstDash val="solid"/>
          </a:ln>
        </p:spPr>
      </p:sp>
      <p:pic>
        <p:nvPicPr>
          <p:cNvPr id="11" name="Image 1" descr="FaHea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339" y="20281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1874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Любимые аттракционы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2651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 по играм, сердечкам и отметкам — не по анкетам.</a:t>
            </a:r>
            <a:endParaRPr lang="en-US" sz="1400" dirty="0"/>
          </a:p>
        </p:txBody>
      </p:sp>
      <p:sp>
        <p:nvSpPr>
          <p:cNvPr id="14" name="Выгода 3"/>
          <p:cNvSpPr/>
          <p:nvPr/>
        </p:nvSpPr>
        <p:spPr>
          <a:xfrm>
            <a:off x="7909560" y="1645920"/>
            <a:ext cx="3337560" cy="2011680"/>
          </a:xfrm>
          <a:prstGeom prst="roundRect">
            <a:avLst>
              <a:gd name="adj" fmla="val 6818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5" name="Круг иконки"/>
          <p:cNvSpPr/>
          <p:nvPr/>
        </p:nvSpPr>
        <p:spPr>
          <a:xfrm>
            <a:off x="8138160" y="1874520"/>
            <a:ext cx="640080" cy="640080"/>
          </a:xfrm>
          <a:prstGeom prst="ellipse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pic>
        <p:nvPicPr>
          <p:cNvPr id="16" name="Image 2" descr="Fa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1779" y="20281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15400" y="1874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 гостей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138160" y="2651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хотят построить, с голосами и оценкой интереса.</a:t>
            </a:r>
            <a:endParaRPr lang="en-US" sz="1400" dirty="0"/>
          </a:p>
        </p:txBody>
      </p:sp>
      <p:sp>
        <p:nvSpPr>
          <p:cNvPr id="19" name="Выгода 4"/>
          <p:cNvSpPr/>
          <p:nvPr/>
        </p:nvSpPr>
        <p:spPr>
          <a:xfrm>
            <a:off x="868680" y="3840480"/>
            <a:ext cx="3337560" cy="2011680"/>
          </a:xfrm>
          <a:prstGeom prst="roundRect">
            <a:avLst>
              <a:gd name="adj" fmla="val 6818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20" name="Круг иконки"/>
          <p:cNvSpPr/>
          <p:nvPr/>
        </p:nvSpPr>
        <p:spPr>
          <a:xfrm>
            <a:off x="1097280" y="4069080"/>
            <a:ext cx="640080" cy="640080"/>
          </a:xfrm>
          <a:prstGeom prst="ellipse">
            <a:avLst/>
          </a:prstGeom>
          <a:solidFill>
            <a:srgbClr val="76B729"/>
          </a:solidFill>
          <a:ln w="12700">
            <a:solidFill>
              <a:srgbClr val="76B729"/>
            </a:solidFill>
            <a:prstDash val="solid"/>
          </a:ln>
        </p:spPr>
      </p:sp>
      <p:pic>
        <p:nvPicPr>
          <p:cNvPr id="21" name="Image 3" descr="FaBel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899" y="422269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874520" y="4069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статусами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1097280" y="4846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 меняет статус и причину — подписчики получают уведомление.</a:t>
            </a:r>
            <a:endParaRPr lang="en-US" sz="1400" dirty="0"/>
          </a:p>
        </p:txBody>
      </p:sp>
      <p:sp>
        <p:nvSpPr>
          <p:cNvPr id="24" name="Выгода 5"/>
          <p:cNvSpPr/>
          <p:nvPr/>
        </p:nvSpPr>
        <p:spPr>
          <a:xfrm>
            <a:off x="4389120" y="3840480"/>
            <a:ext cx="3337560" cy="2011680"/>
          </a:xfrm>
          <a:prstGeom prst="roundRect">
            <a:avLst>
              <a:gd name="adj" fmla="val 6818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25" name="Круг иконки"/>
          <p:cNvSpPr/>
          <p:nvPr/>
        </p:nvSpPr>
        <p:spPr>
          <a:xfrm>
            <a:off x="4617720" y="4069080"/>
            <a:ext cx="640080" cy="640080"/>
          </a:xfrm>
          <a:prstGeom prst="ellipse">
            <a:avLst/>
          </a:prstGeom>
          <a:solidFill>
            <a:srgbClr val="7B4FC4"/>
          </a:solidFill>
          <a:ln w="12700">
            <a:solidFill>
              <a:srgbClr val="7B4FC4"/>
            </a:solidFill>
            <a:prstDash val="solid"/>
          </a:ln>
        </p:spPr>
      </p:sp>
      <p:pic>
        <p:nvPicPr>
          <p:cNvPr id="26" name="Image 4" descr="FaClo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1339" y="4222699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94960" y="4069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Разгрузка пиков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617720" y="4846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Монеты ×3 в тихие часы переводят часть потока на спокойное время.</a:t>
            </a:r>
            <a:endParaRPr lang="en-US" sz="1400" dirty="0"/>
          </a:p>
        </p:txBody>
      </p:sp>
      <p:sp>
        <p:nvSpPr>
          <p:cNvPr id="29" name="Выгода 6"/>
          <p:cNvSpPr/>
          <p:nvPr/>
        </p:nvSpPr>
        <p:spPr>
          <a:xfrm>
            <a:off x="7909560" y="3840480"/>
            <a:ext cx="3337560" cy="2011680"/>
          </a:xfrm>
          <a:prstGeom prst="roundRect">
            <a:avLst>
              <a:gd name="adj" fmla="val 6818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30" name="Круг иконки"/>
          <p:cNvSpPr/>
          <p:nvPr/>
        </p:nvSpPr>
        <p:spPr>
          <a:xfrm>
            <a:off x="8138160" y="4069080"/>
            <a:ext cx="640080" cy="640080"/>
          </a:xfrm>
          <a:prstGeom prst="ellipse">
            <a:avLst/>
          </a:prstGeom>
          <a:solidFill>
            <a:srgbClr val="00A3AD"/>
          </a:solidFill>
          <a:ln w="12700">
            <a:solidFill>
              <a:srgbClr val="00A3AD"/>
            </a:solidFill>
            <a:prstDash val="solid"/>
          </a:ln>
        </p:spPr>
      </p:sp>
      <p:pic>
        <p:nvPicPr>
          <p:cNvPr id="31" name="Image 5" descr="FaCoin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1779" y="4222699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915400" y="4069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Повод вернуться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138160" y="48463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Квест, уровни и награды вместо «разового удовольствия».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1447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868680" y="42976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0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ПРОТОКОЛ  ·  ЧТО НАСТОЯЩЕЕ, ЧТО ДЕМО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6868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Работаем честно</a:t>
            </a:r>
            <a:endParaRPr lang="en-US" sz="3200" dirty="0"/>
          </a:p>
        </p:txBody>
      </p:sp>
      <p:sp>
        <p:nvSpPr>
          <p:cNvPr id="4" name="Настоящее"/>
          <p:cNvSpPr/>
          <p:nvPr/>
        </p:nvSpPr>
        <p:spPr>
          <a:xfrm>
            <a:off x="868680" y="1645920"/>
            <a:ext cx="5074920" cy="4206240"/>
          </a:xfrm>
          <a:prstGeom prst="roundRect">
            <a:avLst>
              <a:gd name="adj" fmla="val 3261"/>
            </a:avLst>
          </a:prstGeom>
          <a:solidFill>
            <a:srgbClr val="EAF6DD"/>
          </a:solidFill>
          <a:ln w="12700">
            <a:solidFill>
              <a:srgbClr val="76B729"/>
            </a:solidFill>
            <a:prstDash val="solid"/>
          </a:ln>
        </p:spPr>
      </p:sp>
      <p:sp>
        <p:nvSpPr>
          <p:cNvPr id="5" name="Круг иконки"/>
          <p:cNvSpPr/>
          <p:nvPr/>
        </p:nvSpPr>
        <p:spPr>
          <a:xfrm>
            <a:off x="1143000" y="1874520"/>
            <a:ext cx="640080" cy="640080"/>
          </a:xfrm>
          <a:prstGeom prst="ellipse">
            <a:avLst/>
          </a:prstGeom>
          <a:solidFill>
            <a:srgbClr val="76B729"/>
          </a:solidFill>
          <a:ln w="12700">
            <a:solidFill>
              <a:srgbClr val="76B729"/>
            </a:solidFill>
            <a:prstDash val="solid"/>
          </a:ln>
        </p:spPr>
      </p:sp>
      <p:pic>
        <p:nvPicPr>
          <p:cNvPr id="6" name="Image 0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6619" y="2028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874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C7F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Настоящее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274320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погоды по часам на 16 дней (Open-Meteo) и климат за 11 лет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Геолокация и расстояние до парка, спутник и ссылки в 2ГИС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Фото, названия, цены «от» и ограничения по росту с сайта парка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Ветер и гроза как причины остановки</a:t>
            </a:r>
            <a:endParaRPr lang="en-US" sz="1600" dirty="0"/>
          </a:p>
        </p:txBody>
      </p:sp>
      <p:sp>
        <p:nvSpPr>
          <p:cNvPr id="9" name="Демо"/>
          <p:cNvSpPr/>
          <p:nvPr/>
        </p:nvSpPr>
        <p:spPr>
          <a:xfrm>
            <a:off x="6217920" y="1645920"/>
            <a:ext cx="5074920" cy="4206240"/>
          </a:xfrm>
          <a:prstGeom prst="roundRect">
            <a:avLst>
              <a:gd name="adj" fmla="val 3261"/>
            </a:avLst>
          </a:prstGeom>
          <a:solidFill>
            <a:srgbClr val="FFF4E0"/>
          </a:solidFill>
          <a:ln w="12700">
            <a:solidFill>
              <a:srgbClr val="F39200"/>
            </a:solidFill>
            <a:prstDash val="solid"/>
          </a:ln>
        </p:spPr>
      </p:sp>
      <p:sp>
        <p:nvSpPr>
          <p:cNvPr id="10" name="Круг иконки"/>
          <p:cNvSpPr/>
          <p:nvPr/>
        </p:nvSpPr>
        <p:spPr>
          <a:xfrm>
            <a:off x="6492240" y="1874520"/>
            <a:ext cx="640080" cy="640080"/>
          </a:xfrm>
          <a:prstGeom prst="ellipse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pic>
        <p:nvPicPr>
          <p:cNvPr id="11" name="Image 1" descr="Fa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859" y="20281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1874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Демо-данные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74320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Плановые ремонты и сроки возврата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Стартовый рейтинг, голоса и идеи (дальше растут от действий гостей)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очередей — модель, ждёт данных турникетов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Награды — механика без условий парка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1447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 дела"/>
          <p:cNvSpPr txBox="1"/>
          <p:nvPr/>
        </p:nvSpPr>
        <p:spPr>
          <a:xfrm>
            <a:off x="868680" y="42976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401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СЛЕДУЮЩИЙ ХОД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68680" y="67665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6E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идея — завтра будущее</a:t>
            </a:r>
            <a:endParaRPr lang="en-US" sz="3200" dirty="0"/>
          </a:p>
        </p:txBody>
      </p:sp>
      <p:sp>
        <p:nvSpPr>
          <p:cNvPr id="4" name="Шаг 1"/>
          <p:cNvSpPr/>
          <p:nvPr/>
        </p:nvSpPr>
        <p:spPr>
          <a:xfrm>
            <a:off x="868680" y="1691640"/>
            <a:ext cx="3337560" cy="4023360"/>
          </a:xfrm>
          <a:prstGeom prst="roundRect">
            <a:avLst>
              <a:gd name="adj" fmla="val 4110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5" name="Круг иконки"/>
          <p:cNvSpPr/>
          <p:nvPr/>
        </p:nvSpPr>
        <p:spPr>
          <a:xfrm>
            <a:off x="1143000" y="1920240"/>
            <a:ext cx="822960" cy="822960"/>
          </a:xfrm>
          <a:prstGeom prst="ellipse">
            <a:avLst/>
          </a:prstGeom>
          <a:solidFill>
            <a:srgbClr val="76B729"/>
          </a:solidFill>
          <a:ln w="12700">
            <a:solidFill>
              <a:srgbClr val="76B729"/>
            </a:solidFill>
            <a:prstDash val="solid"/>
          </a:ln>
        </p:spPr>
      </p:sp>
      <p:pic>
        <p:nvPicPr>
          <p:cNvPr id="6" name="Image 0" descr="FaTroph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510" y="21177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6B7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СЕГОДНЯ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32918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Рабочий прототип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402336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Игра-квест, карта статусов, рейтинг любимых, «Починить!», стройка и режим оператора.</a:t>
            </a:r>
            <a:endParaRPr lang="en-US" sz="1400" dirty="0"/>
          </a:p>
        </p:txBody>
      </p:sp>
      <p:sp>
        <p:nvSpPr>
          <p:cNvPr id="10" name="Шаг 2"/>
          <p:cNvSpPr/>
          <p:nvPr/>
        </p:nvSpPr>
        <p:spPr>
          <a:xfrm>
            <a:off x="4389120" y="1691640"/>
            <a:ext cx="3337560" cy="4023360"/>
          </a:xfrm>
          <a:prstGeom prst="roundRect">
            <a:avLst>
              <a:gd name="adj" fmla="val 4110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1" name="Круг иконки"/>
          <p:cNvSpPr/>
          <p:nvPr/>
        </p:nvSpPr>
        <p:spPr>
          <a:xfrm>
            <a:off x="4663440" y="1920240"/>
            <a:ext cx="822960" cy="822960"/>
          </a:xfrm>
          <a:prstGeom prst="ellipse">
            <a:avLst/>
          </a:prstGeom>
          <a:solidFill>
            <a:srgbClr val="006EB7"/>
          </a:solidFill>
          <a:ln w="12700">
            <a:solidFill>
              <a:srgbClr val="006EB7"/>
            </a:solidFill>
            <a:prstDash val="solid"/>
          </a:ln>
        </p:spPr>
      </p:sp>
      <p:pic>
        <p:nvPicPr>
          <p:cNvPr id="12" name="Image 1" descr="FaRob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950" y="211775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6344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6E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ЗАВТРА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32918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ИИ-агент Кот Баюн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4663440" y="402336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Ведёт квест в диалоге, объясняет причины остановок, подбирает маршрут и помогает собрать аттракцион.</a:t>
            </a:r>
            <a:endParaRPr lang="en-US" sz="1400" dirty="0"/>
          </a:p>
        </p:txBody>
      </p:sp>
      <p:sp>
        <p:nvSpPr>
          <p:cNvPr id="16" name="Шаг 3"/>
          <p:cNvSpPr/>
          <p:nvPr/>
        </p:nvSpPr>
        <p:spPr>
          <a:xfrm>
            <a:off x="7909560" y="1691640"/>
            <a:ext cx="3337560" cy="4023360"/>
          </a:xfrm>
          <a:prstGeom prst="roundRect">
            <a:avLst>
              <a:gd name="adj" fmla="val 4110"/>
            </a:avLst>
          </a:prstGeom>
          <a:solidFill>
            <a:srgbClr val="EEF5FC"/>
          </a:solidFill>
          <a:ln w="12700">
            <a:solidFill>
              <a:srgbClr val="D6E6F5"/>
            </a:solidFill>
            <a:prstDash val="solid"/>
          </a:ln>
        </p:spPr>
      </p:sp>
      <p:sp>
        <p:nvSpPr>
          <p:cNvPr id="17" name="Круг иконки"/>
          <p:cNvSpPr/>
          <p:nvPr/>
        </p:nvSpPr>
        <p:spPr>
          <a:xfrm>
            <a:off x="8183880" y="1920240"/>
            <a:ext cx="822960" cy="822960"/>
          </a:xfrm>
          <a:prstGeom prst="ellipse">
            <a:avLst/>
          </a:prstGeom>
          <a:solidFill>
            <a:srgbClr val="F39200"/>
          </a:solidFill>
          <a:ln w="12700">
            <a:solidFill>
              <a:srgbClr val="F39200"/>
            </a:solidFill>
            <a:prstDash val="solid"/>
          </a:ln>
        </p:spPr>
      </p:sp>
      <p:pic>
        <p:nvPicPr>
          <p:cNvPr id="18" name="Image 2" descr="Fa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390" y="2117750"/>
            <a:ext cx="427939" cy="42793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18388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39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ДАЛЬШЕ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8183880" y="32918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парка и база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8183880" y="402336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Живые статусы и очереди от парка, общая база голосов и идей, уведомления в мессенджер.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1447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392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ДЕЛО  ·  СТАТУС: ЗАКРЫТО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25880"/>
            <a:ext cx="6766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ДЕЛО</a:t>
            </a:r>
            <a:endParaRPr lang="en-US" sz="7200" dirty="0"/>
          </a:p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РАСКРЫТО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8620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Парк «Сказка» получает не просто сайт, а игру, которая объясняет, развлекает и собирает данные.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0292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Сергей  ·  Николай  ·  Артем  ·  Глеб  ·  Кирилл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486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9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Hakaton team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943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Наши идеи сегодня делают будущее завтра</a:t>
            </a:r>
            <a:endParaRPr lang="en-US" sz="1700" dirty="0"/>
          </a:p>
        </p:txBody>
      </p:sp>
      <p:pic>
        <p:nvPicPr>
          <p:cNvPr id="8" name="Image 0" descr="Отпечаток пальц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005840"/>
            <a:ext cx="1737360" cy="1737360"/>
          </a:xfrm>
          <a:prstGeom prst="rect">
            <a:avLst/>
          </a:prstGeom>
        </p:spPr>
      </p:pic>
      <p:pic>
        <p:nvPicPr>
          <p:cNvPr id="9" name="Учитель WIDE: палец вверх" descr="Учитель WIDE: палец вверх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971800"/>
            <a:ext cx="1675075" cy="3611880"/>
          </a:xfrm>
          <a:prstGeom prst="rect">
            <a:avLst/>
          </a:prstGeom>
        </p:spPr>
      </p:pic>
      <p:pic>
        <p:nvPicPr>
          <p:cNvPr id="10" name="Мальчик WIDE: палец вверх" descr="Мальчик WIDE: палец вверх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3246120"/>
            <a:ext cx="1499483" cy="3337560"/>
          </a:xfrm>
          <a:prstGeom prst="rect">
            <a:avLst/>
          </a:prstGeom>
        </p:spPr>
      </p:pic>
      <p:pic>
        <p:nvPicPr>
          <p:cNvPr id="11" name="Девочка WIDE: палец вверх" descr="Девочка WIDE: палец вверх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2743200"/>
            <a:ext cx="1615342" cy="3749040"/>
          </a:xfrm>
          <a:prstGeom prst="rect">
            <a:avLst/>
          </a:prstGeom>
        </p:spPr>
      </p:pic>
      <p:sp>
        <p:nvSpPr>
          <p:cNvPr id="12" name="Штамп"/>
          <p:cNvSpPr txBox="1"/>
          <p:nvPr/>
        </p:nvSpPr>
        <p:spPr>
          <a:xfrm rot="-540000">
            <a:off x="5577840" y="5577840"/>
            <a:ext cx="2011680" cy="548640"/>
          </a:xfrm>
          <a:prstGeom prst="rect">
            <a:avLst/>
          </a:prstGeom>
          <a:noFill/>
          <a:ln w="38100">
            <a:solidFill>
              <a:srgbClr val="FF4A6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ВОПРОСЫ?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DE">
  <a:themeElements>
    <a:clrScheme name="WIDE">
      <a:dk1>
        <a:srgbClr val="1F2A44"/>
      </a:dk1>
      <a:lt1>
        <a:srgbClr val="FFFFFF"/>
      </a:lt1>
      <a:dk2>
        <a:srgbClr val="006EB7"/>
      </a:dk2>
      <a:lt2>
        <a:srgbClr val="EEF5FC"/>
      </a:lt2>
      <a:accent1>
        <a:srgbClr val="006EB7"/>
      </a:accent1>
      <a:accent2>
        <a:srgbClr val="E4013A"/>
      </a:accent2>
      <a:accent3>
        <a:srgbClr val="F39200"/>
      </a:accent3>
      <a:accent4>
        <a:srgbClr val="76B729"/>
      </a:accent4>
      <a:accent5>
        <a:srgbClr val="7B4FC4"/>
      </a:accent5>
      <a:accent6>
        <a:srgbClr val="00A3AD"/>
      </a:accent6>
      <a:hlink>
        <a:srgbClr val="006EB7"/>
      </a:hlink>
      <a:folHlink>
        <a:srgbClr val="7B4FC4"/>
      </a:folHlink>
    </a:clrScheme>
    <a:fontScheme name="WID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WIDE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Хранитель Сказки — WIDE Hakaton team</dc:title>
  <dc:subject>PptxGenJS Presentation</dc:subject>
  <dc:creator>WIDE Hakaton team</dc:creator>
  <cp:lastModifiedBy>WIDE Hakaton team</cp:lastModifiedBy>
  <cp:revision>1</cp:revision>
  <dcterms:created xsi:type="dcterms:W3CDTF">2026-10-20T22:07:43Z</dcterms:created>
  <dcterms:modified xsi:type="dcterms:W3CDTF">2026-10-20T22:07:43Z</dcterms:modified>
</cp:coreProperties>
</file>