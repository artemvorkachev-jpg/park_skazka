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Суббота, 24 октября</c:v>
                </c:pt>
              </c:strCache>
            </c:strRef>
          </c:tx>
          <c:spPr>
            <a:solidFill>
              <a:srgbClr val="E0A526"/>
            </a:solidFill>
            <a:ln w="50800" cap="flat">
              <a:solidFill>
                <a:srgbClr val="E0A5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0A526"/>
              </a:solidFill>
              <a:ln w="9525" cap="flat">
                <a:solidFill>
                  <a:srgbClr val="E0A5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10</c:v>
                  </c:pt>
                  <c:pt idx="1">
                    <c:v>11</c:v>
                  </c:pt>
                  <c:pt idx="2">
                    <c:v>12</c:v>
                  </c:pt>
                  <c:pt idx="3">
                    <c:v>13</c:v>
                  </c:pt>
                  <c:pt idx="4">
                    <c:v>14</c:v>
                  </c:pt>
                  <c:pt idx="5">
                    <c:v>15</c:v>
                  </c:pt>
                  <c:pt idx="6">
                    <c:v>16</c:v>
                  </c:pt>
                  <c:pt idx="7">
                    <c:v>17</c:v>
                  </c:pt>
                  <c:pt idx="8">
                    <c:v>18</c:v>
                  </c:pt>
                  <c:pt idx="9">
                    <c:v>19</c:v>
                  </c:pt>
                  <c:pt idx="10">
                    <c:v>20</c:v>
                  </c:pt>
                  <c:pt idx="11">
                    <c:v>21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</c:v>
                </c:pt>
                <c:pt idx="1">
                  <c:v>49</c:v>
                </c:pt>
                <c:pt idx="2">
                  <c:v>69</c:v>
                </c:pt>
                <c:pt idx="3">
                  <c:v>87</c:v>
                </c:pt>
                <c:pt idx="4">
                  <c:v>99</c:v>
                </c:pt>
                <c:pt idx="5">
                  <c:v>100</c:v>
                </c:pt>
                <c:pt idx="6">
                  <c:v>92</c:v>
                </c:pt>
                <c:pt idx="7">
                  <c:v>74</c:v>
                </c:pt>
                <c:pt idx="8">
                  <c:v>67</c:v>
                </c:pt>
                <c:pt idx="9">
                  <c:v>58</c:v>
                </c:pt>
                <c:pt idx="10">
                  <c:v>44</c:v>
                </c:pt>
                <c:pt idx="11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Среда, 21 октября</c:v>
                </c:pt>
              </c:strCache>
            </c:strRef>
          </c:tx>
          <c:spPr>
            <a:solidFill>
              <a:srgbClr val="3FB7A8"/>
            </a:solidFill>
            <a:ln w="50800" cap="flat">
              <a:solidFill>
                <a:srgbClr val="3FB7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3FB7A8"/>
              </a:solidFill>
              <a:ln w="9525" cap="flat">
                <a:solidFill>
                  <a:srgbClr val="3FB7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10</c:v>
                  </c:pt>
                  <c:pt idx="1">
                    <c:v>11</c:v>
                  </c:pt>
                  <c:pt idx="2">
                    <c:v>12</c:v>
                  </c:pt>
                  <c:pt idx="3">
                    <c:v>13</c:v>
                  </c:pt>
                  <c:pt idx="4">
                    <c:v>14</c:v>
                  </c:pt>
                  <c:pt idx="5">
                    <c:v>15</c:v>
                  </c:pt>
                  <c:pt idx="6">
                    <c:v>16</c:v>
                  </c:pt>
                  <c:pt idx="7">
                    <c:v>17</c:v>
                  </c:pt>
                  <c:pt idx="8">
                    <c:v>18</c:v>
                  </c:pt>
                  <c:pt idx="9">
                    <c:v>19</c:v>
                  </c:pt>
                  <c:pt idx="10">
                    <c:v>20</c:v>
                  </c:pt>
                  <c:pt idx="11">
                    <c:v>21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</c:v>
                </c:pt>
                <c:pt idx="1">
                  <c:v>9</c:v>
                </c:pt>
                <c:pt idx="2">
                  <c:v>16</c:v>
                </c:pt>
                <c:pt idx="3">
                  <c:v>23</c:v>
                </c:pt>
                <c:pt idx="4">
                  <c:v>29</c:v>
                </c:pt>
                <c:pt idx="5">
                  <c:v>33</c:v>
                </c:pt>
                <c:pt idx="6">
                  <c:v>35</c:v>
                </c:pt>
                <c:pt idx="7">
                  <c:v>30</c:v>
                </c:pt>
                <c:pt idx="8">
                  <c:v>25</c:v>
                </c:pt>
                <c:pt idx="9">
                  <c:v>14</c:v>
                </c:pt>
                <c:pt idx="10">
                  <c:v>8</c:v>
                </c:pt>
                <c:pt idx="11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A3A3B5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A3A3B5"/>
                    </a:solidFill>
                    <a:latin typeface="Arial"/>
                  </a:rPr>
                  <a:t>Час, ч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3A3B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36364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A3A3B5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A3A3B5"/>
                    </a:solidFill>
                    <a:latin typeface="Arial"/>
                  </a:rPr>
                  <a:t>Загрузка,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3A3B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EFE8D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Мы — WIDE Hakaton team. Наш девиз: наши идеи сегодня делают будущее завтра. Мы расследовали парк «Сказка» и нашли, как превратить визит в игру.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Сергей, Николай, Артем, Глеб и Кирилл — команда WIDE Hakaton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— с официального сайта парка на 21.10.2026.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Улики собраны из открытых отзывов и разбора официального сайта парка.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Идея: гость не читает сайт, а проходит игру вместе с Котом Баюном.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ответ на «слепое пятно» сайта: гость заранее знает, что не работает и почему.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Баллы дают уровни: Путник, Следопыт, Богатырь, Царевич, Хранитель Сказки. Награды — демонстрация механики.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 пользователя: где больше играют, там больше нравится. Если аттракцион на ремонте — предлагаем починить и видим, что любят больше.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аттракциона рисуется автоматически по выбранным параметрам.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График построен нашей моделью очередей по реальному прогнозу погоды на выбранные даты.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Режим оператора уже есть в прототипе: статусы, спрос на ремонт, идеи.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честно разделяем настоящее и демонстрационное. В боевой версии статусы вводит оператор, голоса хранятся в базе.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Завтра на хакатоне создаём ИИ-агента — голос Кота Баюна.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Спасибо! Вопросы?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NOIR_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NOI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IR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I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Hakaton team  ·  Дело «Хранитель Сказки»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 2026-WIDE  ·  ГРИФ: ОТКРЫТО</a:t>
            </a:r>
            <a:endParaRPr lang="en-US" sz="1400" dirty="0"/>
          </a:p>
        </p:txBody>
      </p:sp>
      <p:sp>
        <p:nvSpPr>
          <p:cNvPr id="3" name="Название проекта"/>
          <p:cNvSpPr txBox="1"/>
          <p:nvPr/>
        </p:nvSpPr>
        <p:spPr>
          <a:xfrm>
            <a:off x="731520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ХРАНИТЕЛЬ</a:t>
            </a:r>
            <a:endParaRPr lang="en-US" sz="7000" dirty="0"/>
          </a:p>
          <a:p>
            <a:pPr indent="0" marL="0">
              <a:buNone/>
            </a:pPr>
            <a:r>
              <a:rPr lang="en-US" sz="7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СКАЗКИ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Расследование: почему в парке аттракционов люди стоят в очередях — и как превратить визит в игру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212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WIDE Hakaton team</a:t>
            </a:r>
            <a:endParaRPr lang="en-US" sz="2600" dirty="0"/>
          </a:p>
        </p:txBody>
      </p:sp>
      <p:sp>
        <p:nvSpPr>
          <p:cNvPr id="6" name="Девиз"/>
          <p:cNvSpPr txBox="1"/>
          <p:nvPr/>
        </p:nvSpPr>
        <p:spPr>
          <a:xfrm>
            <a:off x="731520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идеи сегодня делают будущее завтра</a:t>
            </a:r>
            <a:endParaRPr lang="en-US" sz="1900" dirty="0"/>
          </a:p>
        </p:txBody>
      </p:sp>
      <p:pic>
        <p:nvPicPr>
          <p:cNvPr id="7" name="Image 0" descr="Лупа следователя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9144000" y="1097280"/>
            <a:ext cx="2286000" cy="2286000"/>
          </a:xfrm>
          <a:prstGeom prst="rect">
            <a:avLst/>
          </a:prstGeom>
        </p:spPr>
      </p:pic>
      <p:sp>
        <p:nvSpPr>
          <p:cNvPr id="8" name="Штамп"/>
          <p:cNvSpPr txBox="1"/>
          <p:nvPr/>
        </p:nvSpPr>
        <p:spPr>
          <a:xfrm rot="-540000">
            <a:off x="8503920" y="4937760"/>
            <a:ext cx="3108960" cy="731520"/>
          </a:xfrm>
          <a:prstGeom prst="rect">
            <a:avLst/>
          </a:prstGeom>
          <a:noFill/>
          <a:ln w="38100">
            <a:solidFill>
              <a:srgbClr val="D04A3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0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РАССЛЕДОВАНИЕ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ДОСЬЕ  ·  СЛЕДСТВЕННАЯ ГРУППА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Команда WIDE Hakaton team</a:t>
            </a:r>
            <a:endParaRPr lang="en-US" sz="3600" dirty="0"/>
          </a:p>
        </p:txBody>
      </p:sp>
      <p:sp>
        <p:nvSpPr>
          <p:cNvPr id="4" name="Досье Сергей"/>
          <p:cNvSpPr/>
          <p:nvPr/>
        </p:nvSpPr>
        <p:spPr>
          <a:xfrm>
            <a:off x="640080" y="182880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1143000" y="2103120"/>
            <a:ext cx="1005840" cy="100584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6" name="Image 0" descr="FaUserSecr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402" y="23445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A3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Сергей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400" dirty="0"/>
          </a:p>
        </p:txBody>
      </p:sp>
      <p:sp>
        <p:nvSpPr>
          <p:cNvPr id="10" name="Досье Николай"/>
          <p:cNvSpPr/>
          <p:nvPr/>
        </p:nvSpPr>
        <p:spPr>
          <a:xfrm>
            <a:off x="2880360" y="182880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1" name="Круг иконки"/>
          <p:cNvSpPr/>
          <p:nvPr/>
        </p:nvSpPr>
        <p:spPr>
          <a:xfrm>
            <a:off x="3383280" y="2103120"/>
            <a:ext cx="1005840" cy="100584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2" name="Image 1" descr="FaUserSecr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682" y="2344522"/>
            <a:ext cx="523037" cy="5230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6324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A3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97180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Николай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297180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400" dirty="0"/>
          </a:p>
        </p:txBody>
      </p:sp>
      <p:sp>
        <p:nvSpPr>
          <p:cNvPr id="16" name="Досье Артем"/>
          <p:cNvSpPr/>
          <p:nvPr/>
        </p:nvSpPr>
        <p:spPr>
          <a:xfrm>
            <a:off x="5120640" y="182880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7" name="Круг иконки"/>
          <p:cNvSpPr/>
          <p:nvPr/>
        </p:nvSpPr>
        <p:spPr>
          <a:xfrm>
            <a:off x="5623560" y="2103120"/>
            <a:ext cx="1005840" cy="100584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8" name="Image 2" descr="FaUserSecr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962" y="2344522"/>
            <a:ext cx="523037" cy="52303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0352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A3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21208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Артем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521208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400" dirty="0"/>
          </a:p>
        </p:txBody>
      </p:sp>
      <p:sp>
        <p:nvSpPr>
          <p:cNvPr id="22" name="Досье Глеб"/>
          <p:cNvSpPr/>
          <p:nvPr/>
        </p:nvSpPr>
        <p:spPr>
          <a:xfrm>
            <a:off x="7360920" y="182880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23" name="Круг иконки"/>
          <p:cNvSpPr/>
          <p:nvPr/>
        </p:nvSpPr>
        <p:spPr>
          <a:xfrm>
            <a:off x="7863840" y="2103120"/>
            <a:ext cx="1005840" cy="100584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24" name="Image 3" descr="FaUserSecr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242" y="2344522"/>
            <a:ext cx="523037" cy="52303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4380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A3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№04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45236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Глеб</a:t>
            </a:r>
            <a:endParaRPr lang="en-US" sz="2600" dirty="0"/>
          </a:p>
        </p:txBody>
      </p:sp>
      <p:sp>
        <p:nvSpPr>
          <p:cNvPr id="27" name="Text 21"/>
          <p:cNvSpPr txBox="1"/>
          <p:nvPr/>
        </p:nvSpPr>
        <p:spPr>
          <a:xfrm>
            <a:off x="745236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400" dirty="0"/>
          </a:p>
        </p:txBody>
      </p:sp>
      <p:sp>
        <p:nvSpPr>
          <p:cNvPr id="28" name="Досье Кирилл"/>
          <p:cNvSpPr/>
          <p:nvPr/>
        </p:nvSpPr>
        <p:spPr>
          <a:xfrm>
            <a:off x="9601200" y="182880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29" name="Круг иконки"/>
          <p:cNvSpPr/>
          <p:nvPr/>
        </p:nvSpPr>
        <p:spPr>
          <a:xfrm>
            <a:off x="10104120" y="2103120"/>
            <a:ext cx="1005840" cy="100584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30" name="Image 4" descr="FaUserSecr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5522" y="2344522"/>
            <a:ext cx="523037" cy="52303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78408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A3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№05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69264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Кирилл</a:t>
            </a:r>
            <a:endParaRPr lang="en-US" sz="2600" dirty="0"/>
          </a:p>
        </p:txBody>
      </p:sp>
      <p:sp>
        <p:nvSpPr>
          <p:cNvPr id="33" name="Text 26"/>
          <p:cNvSpPr txBox="1"/>
          <p:nvPr/>
        </p:nvSpPr>
        <p:spPr>
          <a:xfrm>
            <a:off x="969264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«Наши идеи сегодня делают будущее завтра»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№1  ·  ЗАЯВЛЕНИЕ КЛИЕНТА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Клиент: парк «Сказка», Крылатское</a:t>
            </a:r>
            <a:endParaRPr lang="en-US" sz="3600" dirty="0"/>
          </a:p>
        </p:txBody>
      </p:sp>
      <p:sp>
        <p:nvSpPr>
          <p:cNvPr id="4" name="Цифра 1"/>
          <p:cNvSpPr/>
          <p:nvPr/>
        </p:nvSpPr>
        <p:spPr>
          <a:xfrm>
            <a:off x="640080" y="182880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6" name="Image 0" descr="FaMapMarked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2110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60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657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позиций на сайте: аттракционы, лабиринты и тематические зоны</a:t>
            </a:r>
            <a:endParaRPr lang="en-US" sz="1500" dirty="0"/>
          </a:p>
        </p:txBody>
      </p:sp>
      <p:sp>
        <p:nvSpPr>
          <p:cNvPr id="9" name="Цифра 2"/>
          <p:cNvSpPr/>
          <p:nvPr/>
        </p:nvSpPr>
        <p:spPr>
          <a:xfrm>
            <a:off x="4343400" y="182880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0" name="Круг иконки"/>
          <p:cNvSpPr/>
          <p:nvPr/>
        </p:nvSpPr>
        <p:spPr>
          <a:xfrm>
            <a:off x="4617720" y="205740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1" name="Image 1" descr="FaPa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9" y="22110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4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657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тематических зон: динозавры, хаски, альпаки, страусы, птицы, еноты</a:t>
            </a:r>
            <a:endParaRPr lang="en-US" sz="1500" dirty="0"/>
          </a:p>
        </p:txBody>
      </p:sp>
      <p:sp>
        <p:nvSpPr>
          <p:cNvPr id="14" name="Цифра 3"/>
          <p:cNvSpPr/>
          <p:nvPr/>
        </p:nvSpPr>
        <p:spPr>
          <a:xfrm>
            <a:off x="8046720" y="182880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5" name="Круг иконки"/>
          <p:cNvSpPr/>
          <p:nvPr/>
        </p:nvSpPr>
        <p:spPr>
          <a:xfrm>
            <a:off x="8321040" y="205740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6" name="Image 2" descr="FaCoi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22110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2 700 ₽</a:t>
            </a:r>
            <a:endParaRPr lang="en-US" sz="4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657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безлимит на день при покупке онлайн (2 900 ₽ на кассе)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расследования: </a:t>
            </a:r>
            <a:pPr indent="0" marL="0">
              <a:buNone/>
            </a:pPr>
            <a:r>
              <a:rPr lang="en-US" sz="18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визит выгоднее и интереснее, убрать «слепые зоны» для гостей и дать парку данные о том, что людям действительно нравится.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ВЕЩДОКИ  ·  ЧТО НАШЛО СЛЕДСТВИЕ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Четыре улики с места событий</a:t>
            </a:r>
            <a:endParaRPr lang="en-US" sz="3600" dirty="0"/>
          </a:p>
        </p:txBody>
      </p:sp>
      <p:sp>
        <p:nvSpPr>
          <p:cNvPr id="4" name="Улика 1"/>
          <p:cNvSpPr/>
          <p:nvPr/>
        </p:nvSpPr>
        <p:spPr>
          <a:xfrm>
            <a:off x="640080" y="182880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914400" y="2148840"/>
            <a:ext cx="731520" cy="731520"/>
          </a:xfrm>
          <a:prstGeom prst="ellipse">
            <a:avLst/>
          </a:prstGeom>
          <a:solidFill>
            <a:srgbClr val="D04A3A"/>
          </a:solidFill>
          <a:ln w="12700">
            <a:solidFill>
              <a:srgbClr val="D04A3A"/>
            </a:solidFill>
            <a:prstDash val="solid"/>
          </a:ln>
        </p:spPr>
      </p:sp>
      <p:pic>
        <p:nvPicPr>
          <p:cNvPr id="6" name="Image 0" descr="FaMoneyBillWa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32440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0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УЛИКА №1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Дорого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8803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Билет, еда и платная парковка — главные минусы в отзывах гостей.</a:t>
            </a:r>
            <a:endParaRPr lang="en-US" sz="1400" dirty="0"/>
          </a:p>
        </p:txBody>
      </p:sp>
      <p:sp>
        <p:nvSpPr>
          <p:cNvPr id="10" name="Улика 2"/>
          <p:cNvSpPr/>
          <p:nvPr/>
        </p:nvSpPr>
        <p:spPr>
          <a:xfrm>
            <a:off x="6172200" y="182880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1" name="Круг иконки"/>
          <p:cNvSpPr/>
          <p:nvPr/>
        </p:nvSpPr>
        <p:spPr>
          <a:xfrm>
            <a:off x="6446520" y="2148840"/>
            <a:ext cx="731520" cy="731520"/>
          </a:xfrm>
          <a:prstGeom prst="ellipse">
            <a:avLst/>
          </a:prstGeom>
          <a:solidFill>
            <a:srgbClr val="D04A3A"/>
          </a:solidFill>
          <a:ln w="12700">
            <a:solidFill>
              <a:srgbClr val="D04A3A"/>
            </a:solidFill>
            <a:prstDash val="solid"/>
          </a:ln>
        </p:spPr>
      </p:sp>
      <p:pic>
        <p:nvPicPr>
          <p:cNvPr id="12" name="Image 1" descr="FaRo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085" y="232440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0664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0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УЛИКА №2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406640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Далеко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7406640" y="28803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метро «Крылатское» около 35 минут пешком: про бесплатный автобус надо знать заранее.</a:t>
            </a:r>
            <a:endParaRPr lang="en-US" sz="1400" dirty="0"/>
          </a:p>
        </p:txBody>
      </p:sp>
      <p:sp>
        <p:nvSpPr>
          <p:cNvPr id="16" name="Улика 3"/>
          <p:cNvSpPr/>
          <p:nvPr/>
        </p:nvSpPr>
        <p:spPr>
          <a:xfrm>
            <a:off x="640080" y="402336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7" name="Круг иконки"/>
          <p:cNvSpPr/>
          <p:nvPr/>
        </p:nvSpPr>
        <p:spPr>
          <a:xfrm>
            <a:off x="914400" y="4343400"/>
            <a:ext cx="731520" cy="731520"/>
          </a:xfrm>
          <a:prstGeom prst="ellipse">
            <a:avLst/>
          </a:prstGeom>
          <a:solidFill>
            <a:srgbClr val="D04A3A"/>
          </a:solidFill>
          <a:ln w="12700">
            <a:solidFill>
              <a:srgbClr val="D04A3A"/>
            </a:solidFill>
            <a:prstDash val="solid"/>
          </a:ln>
        </p:spPr>
      </p:sp>
      <p:pic>
        <p:nvPicPr>
          <p:cNvPr id="18" name="Image 2" descr="FaWalk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5" y="451896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874520" y="4279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0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УЛИКА №3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874520" y="4572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Нет повода вернуться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1874520" y="50749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Гости пишут, что второй раз вряд ли поедут: «разовое удовольствие».</a:t>
            </a:r>
            <a:endParaRPr lang="en-US" sz="1400" dirty="0"/>
          </a:p>
        </p:txBody>
      </p:sp>
      <p:sp>
        <p:nvSpPr>
          <p:cNvPr id="22" name="Улика 4"/>
          <p:cNvSpPr/>
          <p:nvPr/>
        </p:nvSpPr>
        <p:spPr>
          <a:xfrm>
            <a:off x="6172200" y="402336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23" name="Круг иконки"/>
          <p:cNvSpPr/>
          <p:nvPr/>
        </p:nvSpPr>
        <p:spPr>
          <a:xfrm>
            <a:off x="6446520" y="4343400"/>
            <a:ext cx="731520" cy="731520"/>
          </a:xfrm>
          <a:prstGeom prst="ellipse">
            <a:avLst/>
          </a:prstGeom>
          <a:solidFill>
            <a:srgbClr val="D04A3A"/>
          </a:solidFill>
          <a:ln w="12700">
            <a:solidFill>
              <a:srgbClr val="D04A3A"/>
            </a:solidFill>
            <a:prstDash val="solid"/>
          </a:ln>
        </p:spPr>
      </p:sp>
      <p:pic>
        <p:nvPicPr>
          <p:cNvPr id="24" name="Image 3" descr="FaQues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085" y="4518965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06640" y="4279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0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УЛИКА №4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406640" y="4572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Тёмные пятна на сайте</a:t>
            </a:r>
            <a:endParaRPr lang="en-US" sz="2200" dirty="0"/>
          </a:p>
        </p:txBody>
      </p:sp>
      <p:sp>
        <p:nvSpPr>
          <p:cNvPr id="27" name="Text 21"/>
          <p:cNvSpPr txBox="1"/>
          <p:nvPr/>
        </p:nvSpPr>
        <p:spPr>
          <a:xfrm>
            <a:off x="7406640" y="50749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видно, какой аттракцион не работает и почему; неочевидно, кому что подходит по росту.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640080" y="6144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отзывы на Otzovik, обзоры KudaGo и Т—Ж, разбор сайта parkskazka.com.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ВЕРСИЯ СЛЕДСТВИЯ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Превратить визит в игру</a:t>
            </a:r>
            <a:endParaRPr lang="en-US" sz="36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822960" y="1600200"/>
            <a:ext cx="2268250" cy="4663440"/>
          </a:xfrm>
          <a:prstGeom prst="roundRect">
            <a:avLst>
              <a:gd name="adj" fmla="val 8869"/>
            </a:avLst>
          </a:prstGeom>
          <a:solidFill>
            <a:srgbClr val="000000"/>
          </a:solidFill>
          <a:ln w="25400">
            <a:solidFill>
              <a:srgbClr val="4A4A5C"/>
            </a:solidFill>
            <a:prstDash val="solid"/>
          </a:ln>
        </p:spPr>
      </p:sp>
      <p:pic>
        <p:nvPicPr>
          <p:cNvPr id="5" name="Экран: Главный экран: погода по часам, Кот Баюн" descr="Главный экран: погода по часам, Кот Баю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700784"/>
            <a:ext cx="2067082" cy="4462272"/>
          </a:xfrm>
          <a:prstGeom prst="rect">
            <a:avLst/>
          </a:prstGeom>
        </p:spPr>
      </p:pic>
      <p:sp>
        <p:nvSpPr>
          <p:cNvPr id="6" name="Круг иконки"/>
          <p:cNvSpPr/>
          <p:nvPr/>
        </p:nvSpPr>
        <p:spPr>
          <a:xfrm>
            <a:off x="4206240" y="1691640"/>
            <a:ext cx="713232" cy="713232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7" name="Image 1" descr="FaCloudSu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416" y="1862816"/>
            <a:ext cx="370881" cy="37088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120640" y="16733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Когда идти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120640" y="20574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Настоящий прогноз погоды по часам и оценка загрузки: в тихие часы монет больше.</a:t>
            </a:r>
            <a:endParaRPr lang="en-US" sz="1500" dirty="0"/>
          </a:p>
        </p:txBody>
      </p:sp>
      <p:sp>
        <p:nvSpPr>
          <p:cNvPr id="10" name="Круг иконки"/>
          <p:cNvSpPr/>
          <p:nvPr/>
        </p:nvSpPr>
        <p:spPr>
          <a:xfrm>
            <a:off x="4206240" y="2807208"/>
            <a:ext cx="713232" cy="713232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1" name="Image 2" descr="FaPa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416" y="2978384"/>
            <a:ext cx="370881" cy="37088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12064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Кот Баюн — проводник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5120640" y="317296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Подсказывает, где тише, что работает и что делать дальше. Завтра станет ИИ-агентом.</a:t>
            </a:r>
            <a:endParaRPr lang="en-US" sz="1500" dirty="0"/>
          </a:p>
        </p:txBody>
      </p:sp>
      <p:sp>
        <p:nvSpPr>
          <p:cNvPr id="14" name="Круг иконки"/>
          <p:cNvSpPr/>
          <p:nvPr/>
        </p:nvSpPr>
        <p:spPr>
          <a:xfrm>
            <a:off x="4206240" y="3922776"/>
            <a:ext cx="713232" cy="713232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5" name="Image 3" descr="FaMapMarked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416" y="4093952"/>
            <a:ext cx="370881" cy="37088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120640" y="39044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Карта со статусами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5120640" y="4288536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что работает, что на ремонте — и почему.</a:t>
            </a:r>
            <a:endParaRPr lang="en-US" sz="1500" dirty="0"/>
          </a:p>
        </p:txBody>
      </p:sp>
      <p:sp>
        <p:nvSpPr>
          <p:cNvPr id="18" name="Круг иконки"/>
          <p:cNvSpPr/>
          <p:nvPr/>
        </p:nvSpPr>
        <p:spPr>
          <a:xfrm>
            <a:off x="4206240" y="5038344"/>
            <a:ext cx="713232" cy="713232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9" name="Image 4" descr="FaTroph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7416" y="5209520"/>
            <a:ext cx="370881" cy="370881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120640" y="502005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Квест, монеты, рейтинг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5120640" y="5404104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Баллы за задания, голосование «Починить!» и конструктор новых аттракционов.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ГЛАВНАЯ УЛИКА  ·  СТАТУС И ПРИЧИНА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Узнать причину до того, как пришёл</a:t>
            </a:r>
            <a:endParaRPr lang="en-US" sz="36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640080" y="1600200"/>
            <a:ext cx="2268250" cy="4663440"/>
          </a:xfrm>
          <a:prstGeom prst="roundRect">
            <a:avLst>
              <a:gd name="adj" fmla="val 8869"/>
            </a:avLst>
          </a:prstGeom>
          <a:solidFill>
            <a:srgbClr val="000000"/>
          </a:solidFill>
          <a:ln w="25400">
            <a:solidFill>
              <a:srgbClr val="4A4A5C"/>
            </a:solidFill>
            <a:prstDash val="solid"/>
          </a:ln>
        </p:spPr>
      </p:sp>
      <p:pic>
        <p:nvPicPr>
          <p:cNvPr id="5" name="Экран: Игровая карта парка со статусами" descr="Игровая карта парка со статусам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00784"/>
            <a:ext cx="2067082" cy="4462272"/>
          </a:xfrm>
          <a:prstGeom prst="rect">
            <a:avLst/>
          </a:prstGeom>
        </p:spPr>
      </p:pic>
      <p:sp>
        <p:nvSpPr>
          <p:cNvPr id="6" name="Корпус телефона"/>
          <p:cNvSpPr/>
          <p:nvPr/>
        </p:nvSpPr>
        <p:spPr>
          <a:xfrm>
            <a:off x="3182650" y="1600200"/>
            <a:ext cx="2268250" cy="4663440"/>
          </a:xfrm>
          <a:prstGeom prst="roundRect">
            <a:avLst>
              <a:gd name="adj" fmla="val 8869"/>
            </a:avLst>
          </a:prstGeom>
          <a:solidFill>
            <a:srgbClr val="000000"/>
          </a:solidFill>
          <a:ln w="25400">
            <a:solidFill>
              <a:srgbClr val="4A4A5C"/>
            </a:solidFill>
            <a:prstDash val="solid"/>
          </a:ln>
        </p:spPr>
      </p:sp>
      <p:pic>
        <p:nvPicPr>
          <p:cNvPr id="7" name="Экран: Карточка аттракциона на ремонте: причина и срок" descr="Карточка аттракциона на ремонте: причина и сро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234" y="1700784"/>
            <a:ext cx="2067082" cy="4462272"/>
          </a:xfrm>
          <a:prstGeom prst="rect">
            <a:avLst/>
          </a:prstGeom>
        </p:spPr>
      </p:pic>
      <p:sp>
        <p:nvSpPr>
          <p:cNvPr id="8" name="Круг иконки"/>
          <p:cNvSpPr/>
          <p:nvPr/>
        </p:nvSpPr>
        <p:spPr>
          <a:xfrm>
            <a:off x="6949440" y="169164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9" name="Image 2" descr="FaMapMarked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59" y="184525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772400" y="1673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Светофор на карте</a:t>
            </a:r>
            <a:endParaRPr lang="en-US" sz="1900" dirty="0"/>
          </a:p>
        </p:txBody>
      </p:sp>
      <p:sp>
        <p:nvSpPr>
          <p:cNvPr id="11" name="Text 6"/>
          <p:cNvSpPr txBox="1"/>
          <p:nvPr/>
        </p:nvSpPr>
        <p:spPr>
          <a:xfrm>
            <a:off x="7772400" y="20574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Зелёный — работает, жёлтый — ветер или гроза, красный — ремонт.</a:t>
            </a:r>
            <a:endParaRPr lang="en-US" sz="1400" dirty="0"/>
          </a:p>
        </p:txBody>
      </p:sp>
      <p:sp>
        <p:nvSpPr>
          <p:cNvPr id="12" name="Круг иконки"/>
          <p:cNvSpPr/>
          <p:nvPr/>
        </p:nvSpPr>
        <p:spPr>
          <a:xfrm>
            <a:off x="6949440" y="306324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3" name="Image 3" descr="FaToo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3059" y="3216859"/>
            <a:ext cx="332842" cy="33284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772400" y="3044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Причина и срок</a:t>
            </a:r>
            <a:endParaRPr lang="en-US" sz="1900" dirty="0"/>
          </a:p>
        </p:txBody>
      </p:sp>
      <p:sp>
        <p:nvSpPr>
          <p:cNvPr id="15" name="Text 9"/>
          <p:cNvSpPr txBox="1"/>
          <p:nvPr/>
        </p:nvSpPr>
        <p:spPr>
          <a:xfrm>
            <a:off x="7772400" y="34290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«Замена гидроцилиндра, вернётся 28 октября» — прямо на карточке.</a:t>
            </a:r>
            <a:endParaRPr lang="en-US" sz="1400" dirty="0"/>
          </a:p>
        </p:txBody>
      </p:sp>
      <p:sp>
        <p:nvSpPr>
          <p:cNvPr id="16" name="Круг иконки"/>
          <p:cNvSpPr/>
          <p:nvPr/>
        </p:nvSpPr>
        <p:spPr>
          <a:xfrm>
            <a:off x="6949440" y="443484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7" name="Image 4" descr="FaBel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059" y="4588459"/>
            <a:ext cx="332842" cy="33284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772400" y="4416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Сообщить, когда заработает</a:t>
            </a:r>
            <a:endParaRPr lang="en-US" sz="1900" dirty="0"/>
          </a:p>
        </p:txBody>
      </p:sp>
      <p:sp>
        <p:nvSpPr>
          <p:cNvPr id="19" name="Text 12"/>
          <p:cNvSpPr txBox="1"/>
          <p:nvPr/>
        </p:nvSpPr>
        <p:spPr>
          <a:xfrm>
            <a:off x="7772400" y="48006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на аттракцион: гость придёт, когда он уже в строю.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6949440" y="56692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Ветер и гроза считаются по настоящему прогнозу. Ремонты в демо смоделированы — в боевой версии их вводит оператор парка.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ХОД РАССЛЕДОВАНИЯ  ·  КВЕСТ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Сюжетный квест с баллами</a:t>
            </a:r>
            <a:endParaRPr lang="en-US" sz="36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822960" y="1600200"/>
            <a:ext cx="2268250" cy="4663440"/>
          </a:xfrm>
          <a:prstGeom prst="roundRect">
            <a:avLst>
              <a:gd name="adj" fmla="val 8869"/>
            </a:avLst>
          </a:prstGeom>
          <a:solidFill>
            <a:srgbClr val="000000"/>
          </a:solidFill>
          <a:ln w="25400">
            <a:solidFill>
              <a:srgbClr val="4A4A5C"/>
            </a:solidFill>
            <a:prstDash val="solid"/>
          </a:ln>
        </p:spPr>
      </p:sp>
      <p:pic>
        <p:nvPicPr>
          <p:cNvPr id="5" name="Экран: Экран квеста: уровень, монеты, главы" descr="Экран квеста: уровень, монеты, глав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700784"/>
            <a:ext cx="2067082" cy="4462272"/>
          </a:xfrm>
          <a:prstGeom prst="rect">
            <a:avLst/>
          </a:prstGeom>
        </p:spPr>
      </p:pic>
      <p:sp>
        <p:nvSpPr>
          <p:cNvPr id="6" name="Факт квеста 1"/>
          <p:cNvSpPr/>
          <p:nvPr/>
        </p:nvSpPr>
        <p:spPr>
          <a:xfrm>
            <a:off x="4297680" y="1691640"/>
            <a:ext cx="7315200" cy="1234440"/>
          </a:xfrm>
          <a:prstGeom prst="roundRect">
            <a:avLst>
              <a:gd name="adj" fmla="val 8889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26280" y="1874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18745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 и финал «Хранитель Сказки»: дино-экспедиция, друзья Кота, вихрь и молния, тайны Бабы Яги…</a:t>
            </a:r>
            <a:endParaRPr lang="en-US" sz="1500" dirty="0"/>
          </a:p>
        </p:txBody>
      </p:sp>
      <p:sp>
        <p:nvSpPr>
          <p:cNvPr id="9" name="Факт квеста 2"/>
          <p:cNvSpPr/>
          <p:nvPr/>
        </p:nvSpPr>
        <p:spPr>
          <a:xfrm>
            <a:off x="4297680" y="3108960"/>
            <a:ext cx="7315200" cy="1234440"/>
          </a:xfrm>
          <a:prstGeom prst="roundRect">
            <a:avLst>
              <a:gd name="adj" fmla="val 8889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32918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32918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 заданий: дома (викторины) и в парке (отметка по геолокации, мини-игра)</a:t>
            </a:r>
            <a:endParaRPr lang="en-US" sz="1500" dirty="0"/>
          </a:p>
        </p:txBody>
      </p:sp>
      <p:sp>
        <p:nvSpPr>
          <p:cNvPr id="12" name="Факт квеста 3"/>
          <p:cNvSpPr/>
          <p:nvPr/>
        </p:nvSpPr>
        <p:spPr>
          <a:xfrm>
            <a:off x="4297680" y="4526280"/>
            <a:ext cx="7315200" cy="1234440"/>
          </a:xfrm>
          <a:prstGeom prst="roundRect">
            <a:avLst>
              <a:gd name="adj" fmla="val 8889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26280" y="47091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×3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47091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 за визит в «тихий» час — антиочередь работает как награда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2976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нужный аттракцион на ремонте, задание автоматически заменяется другим — квест не ломается.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УЛИКИ СОБИРАЮТ САМИ ГОСТИ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любят и что просят починить</a:t>
            </a:r>
            <a:endParaRPr lang="en-US" sz="36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640080" y="1600200"/>
            <a:ext cx="2268250" cy="4663440"/>
          </a:xfrm>
          <a:prstGeom prst="roundRect">
            <a:avLst>
              <a:gd name="adj" fmla="val 8869"/>
            </a:avLst>
          </a:prstGeom>
          <a:solidFill>
            <a:srgbClr val="000000"/>
          </a:solidFill>
          <a:ln w="25400">
            <a:solidFill>
              <a:srgbClr val="4A4A5C"/>
            </a:solidFill>
            <a:prstDash val="solid"/>
          </a:ln>
        </p:spPr>
      </p:sp>
      <p:pic>
        <p:nvPicPr>
          <p:cNvPr id="5" name="Экран: Голосование «Починить!»" descr="Голосование «Починить!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00784"/>
            <a:ext cx="2067082" cy="4462272"/>
          </a:xfrm>
          <a:prstGeom prst="rect">
            <a:avLst/>
          </a:prstGeom>
        </p:spPr>
      </p:pic>
      <p:sp>
        <p:nvSpPr>
          <p:cNvPr id="6" name="Корпус телефона"/>
          <p:cNvSpPr/>
          <p:nvPr/>
        </p:nvSpPr>
        <p:spPr>
          <a:xfrm>
            <a:off x="3182650" y="1600200"/>
            <a:ext cx="2268250" cy="4663440"/>
          </a:xfrm>
          <a:prstGeom prst="roundRect">
            <a:avLst>
              <a:gd name="adj" fmla="val 8869"/>
            </a:avLst>
          </a:prstGeom>
          <a:solidFill>
            <a:srgbClr val="000000"/>
          </a:solidFill>
          <a:ln w="25400">
            <a:solidFill>
              <a:srgbClr val="4A4A5C"/>
            </a:solidFill>
            <a:prstDash val="solid"/>
          </a:ln>
        </p:spPr>
      </p:sp>
      <p:pic>
        <p:nvPicPr>
          <p:cNvPr id="7" name="Экран: Каталог со статусами «Ремонт»" descr="Каталог со статусами «Ремонт»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234" y="1700784"/>
            <a:ext cx="2067082" cy="4462272"/>
          </a:xfrm>
          <a:prstGeom prst="rect">
            <a:avLst/>
          </a:prstGeom>
        </p:spPr>
      </p:pic>
      <p:sp>
        <p:nvSpPr>
          <p:cNvPr id="8" name="Круг иконки"/>
          <p:cNvSpPr/>
          <p:nvPr/>
        </p:nvSpPr>
        <p:spPr>
          <a:xfrm>
            <a:off x="6949440" y="169164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9" name="Image 2" descr="FaHe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59" y="184525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772400" y="16733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Где больше играют — там больше любят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7772400" y="22585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любимых складывается из мини-игр, сердечек и отметок. Парк видит реальный интерес.</a:t>
            </a:r>
            <a:endParaRPr lang="en-US" sz="1400" dirty="0"/>
          </a:p>
        </p:txBody>
      </p:sp>
      <p:sp>
        <p:nvSpPr>
          <p:cNvPr id="12" name="Круг иконки"/>
          <p:cNvSpPr/>
          <p:nvPr/>
        </p:nvSpPr>
        <p:spPr>
          <a:xfrm>
            <a:off x="6949440" y="315468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3" name="Image 3" descr="FaToo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3059" y="3308299"/>
            <a:ext cx="332842" cy="33284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772400" y="31363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«Починить!»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7772400" y="37216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Аттракцион на ремонте собирает голоса (цель — 150). Заявка уходит оператору: что вернуть первым.</a:t>
            </a:r>
            <a:endParaRPr lang="en-US" sz="1400" dirty="0"/>
          </a:p>
        </p:txBody>
      </p:sp>
      <p:sp>
        <p:nvSpPr>
          <p:cNvPr id="16" name="Круг иконки"/>
          <p:cNvSpPr/>
          <p:nvPr/>
        </p:nvSpPr>
        <p:spPr>
          <a:xfrm>
            <a:off x="6949440" y="461772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7" name="Image 4" descr="FaTroph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059" y="4771339"/>
            <a:ext cx="332842" cy="33284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772400" y="45994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Игра как опрос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7772400" y="518464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Гость играет — парк получает данные, а не анкету.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СЛЕДСТВЕННЫЙ ЭКСПЕРИМЕНТ  ·  СТРОЙКА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Гости придумывают аттракционы</a:t>
            </a:r>
            <a:endParaRPr lang="en-US" sz="36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822960" y="1600200"/>
            <a:ext cx="2268250" cy="4663440"/>
          </a:xfrm>
          <a:prstGeom prst="roundRect">
            <a:avLst>
              <a:gd name="adj" fmla="val 8869"/>
            </a:avLst>
          </a:prstGeom>
          <a:solidFill>
            <a:srgbClr val="000000"/>
          </a:solidFill>
          <a:ln w="25400">
            <a:solidFill>
              <a:srgbClr val="4A4A5C"/>
            </a:solidFill>
            <a:prstDash val="solid"/>
          </a:ln>
        </p:spPr>
      </p:sp>
      <p:pic>
        <p:nvPicPr>
          <p:cNvPr id="5" name="Экран: Конструктор аттракционов с моделью" descr="Конструктор аттракционов с моделью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700784"/>
            <a:ext cx="2067082" cy="4462272"/>
          </a:xfrm>
          <a:prstGeom prst="rect">
            <a:avLst/>
          </a:prstGeom>
        </p:spPr>
      </p:pic>
      <p:sp>
        <p:nvSpPr>
          <p:cNvPr id="6" name="Круг иконки"/>
          <p:cNvSpPr/>
          <p:nvPr/>
        </p:nvSpPr>
        <p:spPr>
          <a:xfrm>
            <a:off x="4297680" y="1691640"/>
            <a:ext cx="685800" cy="6858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7" name="Image 1" descr="FaToo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856232"/>
            <a:ext cx="356616" cy="3566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0" y="16733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Собери из деталей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212080" y="207568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типов (горки, колесо, башня, карусель, корабль, дом) × 6 тем × «мёртвая петля», туман, подсветка и другое.</a:t>
            </a:r>
            <a:endParaRPr lang="en-US" sz="1500" dirty="0"/>
          </a:p>
        </p:txBody>
      </p:sp>
      <p:sp>
        <p:nvSpPr>
          <p:cNvPr id="10" name="Круг иконки"/>
          <p:cNvSpPr/>
          <p:nvPr/>
        </p:nvSpPr>
        <p:spPr>
          <a:xfrm>
            <a:off x="4297680" y="3108960"/>
            <a:ext cx="685800" cy="6858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1" name="Image 2" descr="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3273552"/>
            <a:ext cx="356616" cy="35661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30906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Индекс интереса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5212080" y="349300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по рейтингу похожих аттракционов в игре — ориентир, а не инженерный расчёт.</a:t>
            </a:r>
            <a:endParaRPr lang="en-US" sz="1500" dirty="0"/>
          </a:p>
        </p:txBody>
      </p:sp>
      <p:sp>
        <p:nvSpPr>
          <p:cNvPr id="14" name="Круг иконки"/>
          <p:cNvSpPr/>
          <p:nvPr/>
        </p:nvSpPr>
        <p:spPr>
          <a:xfrm>
            <a:off x="4297680" y="4526280"/>
            <a:ext cx="685800" cy="6858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5" name="Image 3" descr="FaTroph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4690872"/>
            <a:ext cx="356616" cy="35661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212080" y="45079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«Хотим построить»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5212080" y="491032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получают голоса. Лучшие попадают в рейтинг, который видит парк.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ВЕЩЕСТВЕННОЕ ДОКАЗАТЕЛЬСТВО  ·  ОЧЕРЕДИ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Пик субботы почти втрое выше среды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74980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Вывод по очередям"/>
          <p:cNvSpPr/>
          <p:nvPr/>
        </p:nvSpPr>
        <p:spPr>
          <a:xfrm>
            <a:off x="8503920" y="1737360"/>
            <a:ext cx="3108960" cy="4389120"/>
          </a:xfrm>
          <a:prstGeom prst="roundRect">
            <a:avLst>
              <a:gd name="adj" fmla="val 3529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325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ЭТО ДАЁТ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2286000"/>
            <a:ext cx="2697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в 15:00 — 100% против 33%.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тихие часы гостю выгодно прийти: монеты ×3. Парк получает разгрузку пиков.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A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оценочная: день недели, время, погода, праздники и ваши отметки. Данные турникетов парка сделают её точной.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ВЫГОДА ДЛЯ ЗАКАЗЧИКА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получает парк</a:t>
            </a:r>
            <a:endParaRPr lang="en-US" sz="3600" dirty="0"/>
          </a:p>
        </p:txBody>
      </p:sp>
      <p:sp>
        <p:nvSpPr>
          <p:cNvPr id="4" name="Выгода 1"/>
          <p:cNvSpPr/>
          <p:nvPr/>
        </p:nvSpPr>
        <p:spPr>
          <a:xfrm>
            <a:off x="640080" y="178308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914400" y="2039112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6" name="Image 0" descr="FaToo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192731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084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Спрос на ремонт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какой аттракцион ждут больше всего и сколько голосов за него.</a:t>
            </a:r>
            <a:endParaRPr lang="en-US" sz="1400" dirty="0"/>
          </a:p>
        </p:txBody>
      </p:sp>
      <p:sp>
        <p:nvSpPr>
          <p:cNvPr id="9" name="Выгода 2"/>
          <p:cNvSpPr/>
          <p:nvPr/>
        </p:nvSpPr>
        <p:spPr>
          <a:xfrm>
            <a:off x="4343400" y="178308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0" name="Круг иконки"/>
          <p:cNvSpPr/>
          <p:nvPr/>
        </p:nvSpPr>
        <p:spPr>
          <a:xfrm>
            <a:off x="4617720" y="2039112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1" name="Image 1" descr="FaHe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9" y="219273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2084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Любимые аттракционы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по играм, сердечкам и отметкам — не по анкетам.</a:t>
            </a:r>
            <a:endParaRPr lang="en-US" sz="1400" dirty="0"/>
          </a:p>
        </p:txBody>
      </p:sp>
      <p:sp>
        <p:nvSpPr>
          <p:cNvPr id="14" name="Выгода 3"/>
          <p:cNvSpPr/>
          <p:nvPr/>
        </p:nvSpPr>
        <p:spPr>
          <a:xfrm>
            <a:off x="8046720" y="178308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5" name="Круг иконки"/>
          <p:cNvSpPr/>
          <p:nvPr/>
        </p:nvSpPr>
        <p:spPr>
          <a:xfrm>
            <a:off x="8321040" y="2039112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6" name="Image 2" descr="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219273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98280" y="2084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Идеи гостей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хотят построить, с голосами и оценкой интереса.</a:t>
            </a:r>
            <a:endParaRPr lang="en-US" sz="1400" dirty="0"/>
          </a:p>
        </p:txBody>
      </p:sp>
      <p:sp>
        <p:nvSpPr>
          <p:cNvPr id="19" name="Выгода 4"/>
          <p:cNvSpPr/>
          <p:nvPr/>
        </p:nvSpPr>
        <p:spPr>
          <a:xfrm>
            <a:off x="640080" y="402336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20" name="Круг иконки"/>
          <p:cNvSpPr/>
          <p:nvPr/>
        </p:nvSpPr>
        <p:spPr>
          <a:xfrm>
            <a:off x="914400" y="4279392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21" name="Image 3" descr="FaBe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" y="443301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91640" y="43251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Управление статусами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" y="5120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меняет статус и причину — подписчики получают уведомление.</a:t>
            </a:r>
            <a:endParaRPr lang="en-US" sz="1400" dirty="0"/>
          </a:p>
        </p:txBody>
      </p:sp>
      <p:sp>
        <p:nvSpPr>
          <p:cNvPr id="24" name="Выгода 5"/>
          <p:cNvSpPr/>
          <p:nvPr/>
        </p:nvSpPr>
        <p:spPr>
          <a:xfrm>
            <a:off x="4343400" y="402336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25" name="Круг иконки"/>
          <p:cNvSpPr/>
          <p:nvPr/>
        </p:nvSpPr>
        <p:spPr>
          <a:xfrm>
            <a:off x="4617720" y="4279392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26" name="Image 4" descr="FaC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339" y="443301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94960" y="43251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Разгрузка пиков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5120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Монеты ×3 в тихие часы переводят часть потока на спокойное время.</a:t>
            </a:r>
            <a:endParaRPr lang="en-US" sz="1400" dirty="0"/>
          </a:p>
        </p:txBody>
      </p:sp>
      <p:sp>
        <p:nvSpPr>
          <p:cNvPr id="29" name="Выгода 6"/>
          <p:cNvSpPr/>
          <p:nvPr/>
        </p:nvSpPr>
        <p:spPr>
          <a:xfrm>
            <a:off x="8046720" y="402336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30" name="Круг иконки"/>
          <p:cNvSpPr/>
          <p:nvPr/>
        </p:nvSpPr>
        <p:spPr>
          <a:xfrm>
            <a:off x="8321040" y="4279392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31" name="Image 5" descr="FaCoin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4659" y="443301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98280" y="43251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Повод вернуться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5120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Квест, уровни и награды вместо «разового удовольствия».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ПРОТОКОЛ  ·  ЧТО НАСТОЯЩЕЕ, ЧТО ДЕМО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Работаем честно</a:t>
            </a:r>
            <a:endParaRPr lang="en-US" sz="3600" dirty="0"/>
          </a:p>
        </p:txBody>
      </p:sp>
      <p:sp>
        <p:nvSpPr>
          <p:cNvPr id="4" name="Настоящее"/>
          <p:cNvSpPr/>
          <p:nvPr/>
        </p:nvSpPr>
        <p:spPr>
          <a:xfrm>
            <a:off x="640080" y="178308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3FB7A8"/>
          </a:solidFill>
          <a:ln w="12700">
            <a:solidFill>
              <a:srgbClr val="3FB7A8"/>
            </a:solidFill>
            <a:prstDash val="solid"/>
          </a:ln>
        </p:spPr>
      </p:sp>
      <p:pic>
        <p:nvPicPr>
          <p:cNvPr id="6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1652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B7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Настоящее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83464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погоды по часам на 16 дней (Open-Meteo) и климат за 11 лет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Геолокация и расстояние до парка, спутник и ссылки в 2ГИС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Фото, названия, цены «от» и ограничения по росту с сайта парка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Ветер и гроза как причины остановки</a:t>
            </a:r>
            <a:endParaRPr lang="en-US" sz="1600" dirty="0"/>
          </a:p>
        </p:txBody>
      </p:sp>
      <p:sp>
        <p:nvSpPr>
          <p:cNvPr id="9" name="Демо"/>
          <p:cNvSpPr/>
          <p:nvPr/>
        </p:nvSpPr>
        <p:spPr>
          <a:xfrm>
            <a:off x="6217920" y="178308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0" name="Круг иконки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1" name="Image 1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59" y="21652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Демо-данные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8346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Плановые ремонты и сроки возврата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Стартовый рейтинг, голоса и идеи (дальше растут от действий гостей)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очередей — модель, ждёт данных турникетов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Награды — механика без условий парка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СЛЕДУЮЩИЙ ХОД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Сегодня идея — завтра будущее</a:t>
            </a:r>
            <a:endParaRPr lang="en-US" sz="3600" dirty="0"/>
          </a:p>
        </p:txBody>
      </p:sp>
      <p:sp>
        <p:nvSpPr>
          <p:cNvPr id="4" name="Шаг 1"/>
          <p:cNvSpPr/>
          <p:nvPr/>
        </p:nvSpPr>
        <p:spPr>
          <a:xfrm>
            <a:off x="640080" y="192024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914400" y="2194560"/>
            <a:ext cx="822960" cy="822960"/>
          </a:xfrm>
          <a:prstGeom prst="ellipse">
            <a:avLst/>
          </a:prstGeom>
          <a:solidFill>
            <a:srgbClr val="363644"/>
          </a:solidFill>
          <a:ln w="12700">
            <a:solidFill>
              <a:srgbClr val="363644"/>
            </a:solidFill>
            <a:prstDash val="solid"/>
          </a:ln>
        </p:spPr>
      </p:sp>
      <p:pic>
        <p:nvPicPr>
          <p:cNvPr id="6" name="Image 0" descr="FaTroph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23920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3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СЕГОДНЯ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Рабочий прототип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2062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Игра-квест, карта статусов, рейтинг любимых, «Починить!», стройка и режим оператора.</a:t>
            </a:r>
            <a:endParaRPr lang="en-US" sz="1400" dirty="0"/>
          </a:p>
        </p:txBody>
      </p:sp>
      <p:sp>
        <p:nvSpPr>
          <p:cNvPr id="10" name="Шаг 2"/>
          <p:cNvSpPr/>
          <p:nvPr/>
        </p:nvSpPr>
        <p:spPr>
          <a:xfrm>
            <a:off x="4343400" y="192024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1" name="Круг иконки"/>
          <p:cNvSpPr/>
          <p:nvPr/>
        </p:nvSpPr>
        <p:spPr>
          <a:xfrm>
            <a:off x="4617720" y="2194560"/>
            <a:ext cx="822960" cy="82296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2" name="Image 1" descr="Fa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30" y="239207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ЗАВТРА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ИИ-агент Кот Баюн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42062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Ведёт квест в диалоге, объясняет причины остановок, подбирает маршрут и помогает собрать аттракцион.</a:t>
            </a:r>
            <a:endParaRPr lang="en-US" sz="1400" dirty="0"/>
          </a:p>
        </p:txBody>
      </p:sp>
      <p:sp>
        <p:nvSpPr>
          <p:cNvPr id="16" name="Шаг 3"/>
          <p:cNvSpPr/>
          <p:nvPr/>
        </p:nvSpPr>
        <p:spPr>
          <a:xfrm>
            <a:off x="8046720" y="192024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7" name="Круг иконки"/>
          <p:cNvSpPr/>
          <p:nvPr/>
        </p:nvSpPr>
        <p:spPr>
          <a:xfrm>
            <a:off x="8321040" y="2194560"/>
            <a:ext cx="822960" cy="822960"/>
          </a:xfrm>
          <a:prstGeom prst="ellipse">
            <a:avLst/>
          </a:prstGeom>
          <a:solidFill>
            <a:srgbClr val="363644"/>
          </a:solidFill>
          <a:ln w="12700">
            <a:solidFill>
              <a:srgbClr val="363644"/>
            </a:solidFill>
            <a:prstDash val="solid"/>
          </a:ln>
        </p:spPr>
      </p:sp>
      <p:pic>
        <p:nvPicPr>
          <p:cNvPr id="18" name="Image 2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50" y="239207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3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ДАЛЬШЕ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Данные парка и база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42062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Живые статусы и очереди от парка, общая база голосов и идей, уведомления в мессенджер.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 ·  СТАТУС: ЗАКРЫТО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ДЕЛО</a:t>
            </a:r>
            <a:endParaRPr lang="en-US" sz="7000" dirty="0"/>
          </a:p>
          <a:p>
            <a:pPr indent="0" marL="0">
              <a:buNone/>
            </a:pPr>
            <a:r>
              <a:rPr lang="en-US" sz="7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РАСКРЫТО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Парк «Сказка» получает не просто сайт, а игру, которая объясняет, развлекает и собирает данные.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074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Сергей  ·  Николай  ·  Артем  ·  Глеб  ·  Кирилл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532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WIDE Hakaton team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идеи сегодня делают будущее завтра</a:t>
            </a:r>
            <a:endParaRPr lang="en-US" sz="1700" dirty="0"/>
          </a:p>
        </p:txBody>
      </p:sp>
      <p:pic>
        <p:nvPicPr>
          <p:cNvPr id="8" name="Image 0" descr="Отпечаток пальца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9235440" y="914400"/>
            <a:ext cx="2194560" cy="2194560"/>
          </a:xfrm>
          <a:prstGeom prst="rect">
            <a:avLst/>
          </a:prstGeom>
        </p:spPr>
      </p:pic>
      <p:sp>
        <p:nvSpPr>
          <p:cNvPr id="9" name="Штамп"/>
          <p:cNvSpPr txBox="1"/>
          <p:nvPr/>
        </p:nvSpPr>
        <p:spPr>
          <a:xfrm rot="-540000">
            <a:off x="8503920" y="5029200"/>
            <a:ext cx="3108960" cy="731520"/>
          </a:xfrm>
          <a:prstGeom prst="rect">
            <a:avLst/>
          </a:prstGeom>
          <a:noFill/>
          <a:ln w="38100">
            <a:solidFill>
              <a:srgbClr val="D04A3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0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ВОПРОСЫ?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DE Noir">
  <a:themeElements>
    <a:clrScheme name="WIDE Noir">
      <a:dk1>
        <a:srgbClr val="0A0A0F"/>
      </a:dk1>
      <a:lt1>
        <a:srgbClr val="FFFFFF"/>
      </a:lt1>
      <a:dk2>
        <a:srgbClr val="171720"/>
      </a:dk2>
      <a:lt2>
        <a:srgbClr val="EFE8D6"/>
      </a:lt2>
      <a:accent1>
        <a:srgbClr val="E0A526"/>
      </a:accent1>
      <a:accent2>
        <a:srgbClr val="D04A3A"/>
      </a:accent2>
      <a:accent3>
        <a:srgbClr val="3FB7A8"/>
      </a:accent3>
      <a:accent4>
        <a:srgbClr val="8B6BFF"/>
      </a:accent4>
      <a:accent5>
        <a:srgbClr val="A3A3B5"/>
      </a:accent5>
      <a:accent6>
        <a:srgbClr val="363644"/>
      </a:accent6>
      <a:hlink>
        <a:srgbClr val="E0A526"/>
      </a:hlink>
      <a:folHlink>
        <a:srgbClr val="A3A3B5"/>
      </a:folHlink>
    </a:clrScheme>
    <a:fontScheme name="WIDE Noir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WIDE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Хранитель Сказки — WIDE Hakaton team</dc:title>
  <dc:subject>PptxGenJS Presentation</dc:subject>
  <dc:creator>WIDE Hakaton team</dc:creator>
  <cp:lastModifiedBy>WIDE Hakaton team</cp:lastModifiedBy>
  <cp:revision>1</cp:revision>
  <dcterms:created xsi:type="dcterms:W3CDTF">2026-10-20T22:01:42Z</dcterms:created>
  <dcterms:modified xsi:type="dcterms:W3CDTF">2026-10-20T22:01:42Z</dcterms:modified>
</cp:coreProperties>
</file>